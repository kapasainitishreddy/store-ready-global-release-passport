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StoreReady as a portfolio release workspace. The photo on the right shows a real local market-plan screen, while the score summarizes a separate broken-fixture audit. Tests and builds were not executed by this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multi-product release problem: signals must be tied to the correct app and unknown areas must stay visible. StoreReady is not a replacement for specialist scanning or full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switching to PocketLedger, opening Markets, reviewing US/India/Japan launch plans, and showing Apple as not applicable to an Android app. These plans are editable templates, not researched SEO results or translations. Next, return to ReleaseProof demo and inspect its static security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blocked decision, source evidence and explicit unknowns. These counts describe the current local broken fixture only. Tests and builds did not run and compliance is not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how the product is designed to work with IBM Bob. Do not claim an IBM Bob session happened. The current package contains task prompts and a handoff UI but lacks authentic session screenshots and usage records. Update this section after genuine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the working prototype to each judging dimension. The value statement is qualitative; there are no customer or productivity measurements. Before final submission, publish only the MIT-scoped additions, deploy the demo, obtain genuine IBM Bob session evidence, and record the narrated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B27"/>
        </a:solidFill>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8890">
            <a:solidFill>
              <a:srgbClr val="29404E"/>
            </a:solidFill>
            <a:prstDash val="solid"/>
          </a:ln>
        </p:spPr>
      </p:sp>
      <p:sp>
        <p:nvSpPr>
          <p:cNvPr id="3" name="Text 1"/>
          <p:cNvSpPr/>
          <p:nvPr/>
        </p:nvSpPr>
        <p:spPr>
          <a:xfrm>
            <a:off x="521208" y="6537960"/>
            <a:ext cx="4114800" cy="164592"/>
          </a:xfrm>
          <a:prstGeom prst="rect">
            <a:avLst/>
          </a:prstGeom>
          <a:noFill/>
          <a:ln/>
        </p:spPr>
        <p:txBody>
          <a:bodyPr wrap="square" lIns="0" tIns="0" rIns="0" bIns="0" rtlCol="0" anchor="ctr"/>
          <a:lstStyle/>
          <a:p>
            <a:pPr indent="0" marL="0">
              <a:buNone/>
            </a:pPr>
            <a:r>
              <a:rPr lang="en-US" sz="800" spc="115" kern="0" dirty="0">
                <a:solidFill>
                  <a:srgbClr val="8CA2B1"/>
                </a:solidFill>
                <a:latin typeface="Aptos" pitchFamily="34" charset="0"/>
                <a:ea typeface="Aptos" pitchFamily="34" charset="-122"/>
                <a:cs typeface="Aptos" pitchFamily="34" charset="-120"/>
              </a:rPr>
              <a:t>RELEASEPROOF  BY  STOREREADY</a:t>
            </a:r>
            <a:endParaRPr lang="en-US" sz="800" dirty="0"/>
          </a:p>
        </p:txBody>
      </p:sp>
      <p:sp>
        <p:nvSpPr>
          <p:cNvPr id="4" name="Text 2"/>
          <p:cNvSpPr/>
          <p:nvPr/>
        </p:nvSpPr>
        <p:spPr>
          <a:xfrm>
            <a:off x="7315200" y="6537960"/>
            <a:ext cx="4352544" cy="164592"/>
          </a:xfrm>
          <a:prstGeom prst="rect">
            <a:avLst/>
          </a:prstGeom>
          <a:noFill/>
          <a:ln/>
        </p:spPr>
        <p:txBody>
          <a:bodyPr wrap="square" lIns="0" tIns="0" rIns="0" bIns="0" rtlCol="0" anchor="ctr"/>
          <a:lstStyle/>
          <a:p>
            <a:pPr algn="r" indent="0" marL="0">
              <a:buNone/>
            </a:pPr>
            <a:r>
              <a:rPr lang="en-US" sz="800" spc="60" kern="0" dirty="0">
                <a:solidFill>
                  <a:srgbClr val="8CA2B1"/>
                </a:solidFill>
                <a:latin typeface="Aptos" pitchFamily="34" charset="0"/>
                <a:ea typeface="Aptos" pitchFamily="34" charset="-122"/>
                <a:cs typeface="Aptos" pitchFamily="34" charset="-120"/>
              </a:rPr>
              <a:t>IBM BOB 2.0 HACKATHON  |  SEPTEMBER 2026</a:t>
            </a:r>
            <a:endParaRPr lang="en-US" sz="8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58368" y="603504"/>
            <a:ext cx="4114800" cy="237744"/>
          </a:xfrm>
          <a:prstGeom prst="rect">
            <a:avLst/>
          </a:prstGeom>
          <a:noFill/>
          <a:ln/>
        </p:spPr>
        <p:txBody>
          <a:bodyPr wrap="square" lIns="0" tIns="0" rIns="0" bIns="0" rtlCol="0" anchor="ctr">
            <a:normAutofit/>
          </a:bodyPr>
          <a:lstStyle/>
          <a:p>
            <a:pPr indent="0" marL="0">
              <a:buNone/>
            </a:pPr>
            <a:r>
              <a:rPr lang="en-US" sz="1000" b="1" spc="190" kern="0" dirty="0">
                <a:solidFill>
                  <a:srgbClr val="54D4A6"/>
                </a:solidFill>
                <a:latin typeface="Aptos" pitchFamily="34" charset="0"/>
                <a:ea typeface="Aptos" pitchFamily="34" charset="-122"/>
                <a:cs typeface="Aptos" pitchFamily="34" charset="-120"/>
              </a:rPr>
              <a:t>IBM BOB 2.0 HACKATHON</a:t>
            </a:r>
            <a:endParaRPr lang="en-US" sz="1000" dirty="0"/>
          </a:p>
        </p:txBody>
      </p:sp>
      <p:sp>
        <p:nvSpPr>
          <p:cNvPr id="3" name="Text 1"/>
          <p:cNvSpPr/>
          <p:nvPr/>
        </p:nvSpPr>
        <p:spPr>
          <a:xfrm>
            <a:off x="658368" y="1152144"/>
            <a:ext cx="4846320" cy="1005840"/>
          </a:xfrm>
          <a:prstGeom prst="rect">
            <a:avLst/>
          </a:prstGeom>
          <a:noFill/>
          <a:ln/>
        </p:spPr>
        <p:txBody>
          <a:bodyPr wrap="square" lIns="0" tIns="0" rIns="0" bIns="0" rtlCol="0" anchor="ctr">
            <a:normAutofit/>
          </a:bodyPr>
          <a:lstStyle/>
          <a:p>
            <a:pPr indent="0" marL="0">
              <a:buNone/>
            </a:pPr>
            <a:r>
              <a:rPr lang="en-US" sz="3400" b="1" dirty="0">
                <a:solidFill>
                  <a:srgbClr val="F4F7F9"/>
                </a:solidFill>
                <a:latin typeface="Aptos Display" pitchFamily="34" charset="0"/>
                <a:ea typeface="Aptos Display" pitchFamily="34" charset="-122"/>
                <a:cs typeface="Aptos Display" pitchFamily="34" charset="-120"/>
              </a:rPr>
              <a:t>Global Release</a:t>
            </a:r>
            <a:endParaRPr lang="en-US" sz="3400" dirty="0"/>
          </a:p>
          <a:p>
            <a:pPr indent="0" marL="0">
              <a:buNone/>
            </a:pPr>
            <a:r>
              <a:rPr lang="en-US" sz="3400" b="1" dirty="0">
                <a:solidFill>
                  <a:srgbClr val="F4F7F9"/>
                </a:solidFill>
                <a:latin typeface="Aptos Display" pitchFamily="34" charset="0"/>
                <a:ea typeface="Aptos Display" pitchFamily="34" charset="-122"/>
                <a:cs typeface="Aptos Display" pitchFamily="34" charset="-120"/>
              </a:rPr>
              <a:t>Passport</a:t>
            </a:r>
            <a:endParaRPr lang="en-US" sz="3400" dirty="0"/>
          </a:p>
        </p:txBody>
      </p:sp>
      <p:sp>
        <p:nvSpPr>
          <p:cNvPr id="4" name="Text 2"/>
          <p:cNvSpPr/>
          <p:nvPr/>
        </p:nvSpPr>
        <p:spPr>
          <a:xfrm>
            <a:off x="685800" y="2258568"/>
            <a:ext cx="4114800" cy="347472"/>
          </a:xfrm>
          <a:prstGeom prst="rect">
            <a:avLst/>
          </a:prstGeom>
          <a:noFill/>
          <a:ln/>
        </p:spPr>
        <p:txBody>
          <a:bodyPr wrap="square" lIns="0" tIns="0" rIns="0" bIns="0" rtlCol="0" anchor="ctr">
            <a:normAutofit/>
          </a:bodyPr>
          <a:lstStyle/>
          <a:p>
            <a:pPr indent="0" marL="0">
              <a:buNone/>
            </a:pPr>
            <a:r>
              <a:rPr lang="en-US" sz="1700" dirty="0">
                <a:solidFill>
                  <a:srgbClr val="4A91FF"/>
                </a:solidFill>
                <a:latin typeface="Aptos" pitchFamily="34" charset="0"/>
                <a:ea typeface="Aptos" pitchFamily="34" charset="-122"/>
                <a:cs typeface="Aptos" pitchFamily="34" charset="-120"/>
              </a:rPr>
              <a:t>StoreReady  /  ReleaseProof</a:t>
            </a:r>
            <a:endParaRPr lang="en-US" sz="1700" dirty="0"/>
          </a:p>
        </p:txBody>
      </p:sp>
      <p:sp>
        <p:nvSpPr>
          <p:cNvPr id="5" name="Text 3"/>
          <p:cNvSpPr/>
          <p:nvPr/>
        </p:nvSpPr>
        <p:spPr>
          <a:xfrm>
            <a:off x="685800" y="2770632"/>
            <a:ext cx="4069080" cy="1005840"/>
          </a:xfrm>
          <a:prstGeom prst="rect">
            <a:avLst/>
          </a:prstGeom>
          <a:noFill/>
          <a:ln/>
        </p:spPr>
        <p:txBody>
          <a:bodyPr wrap="square" lIns="0" tIns="0" rIns="0" bIns="0" rtlCol="0" anchor="t">
            <a:normAutofit/>
          </a:bodyPr>
          <a:lstStyle/>
          <a:p>
            <a:pPr indent="0" marL="0">
              <a:buNone/>
            </a:pPr>
            <a:r>
              <a:rPr lang="en-US" sz="2000" dirty="0">
                <a:solidFill>
                  <a:srgbClr val="B1C0C9"/>
                </a:solidFill>
                <a:latin typeface="Aptos" pitchFamily="34" charset="0"/>
                <a:ea typeface="Aptos" pitchFamily="34" charset="-122"/>
                <a:cs typeface="Aptos" pitchFamily="34" charset="-120"/>
              </a:rPr>
              <a:t>One workspace for every app in your portfolio and each market it ships into.</a:t>
            </a:r>
            <a:endParaRPr lang="en-US" sz="2000" dirty="0"/>
          </a:p>
        </p:txBody>
      </p:sp>
      <p:sp>
        <p:nvSpPr>
          <p:cNvPr id="6" name="Shape 4"/>
          <p:cNvSpPr/>
          <p:nvPr/>
        </p:nvSpPr>
        <p:spPr>
          <a:xfrm>
            <a:off x="685800" y="3977640"/>
            <a:ext cx="3474720" cy="0"/>
          </a:xfrm>
          <a:prstGeom prst="line">
            <a:avLst/>
          </a:prstGeom>
          <a:noFill/>
          <a:ln w="13970">
            <a:solidFill>
              <a:srgbClr val="29404E"/>
            </a:solidFill>
            <a:prstDash val="solid"/>
            <a:headEnd type="none"/>
            <a:tailEnd type="none"/>
          </a:ln>
        </p:spPr>
      </p:sp>
      <p:sp>
        <p:nvSpPr>
          <p:cNvPr id="7" name="Text 5"/>
          <p:cNvSpPr/>
          <p:nvPr/>
        </p:nvSpPr>
        <p:spPr>
          <a:xfrm>
            <a:off x="694944" y="4224528"/>
            <a:ext cx="3108960" cy="210312"/>
          </a:xfrm>
          <a:prstGeom prst="rect">
            <a:avLst/>
          </a:prstGeom>
          <a:noFill/>
          <a:ln/>
        </p:spPr>
        <p:txBody>
          <a:bodyPr wrap="square" lIns="0" tIns="0" rIns="0" bIns="0" rtlCol="0" anchor="ctr">
            <a:normAutofit/>
          </a:bodyPr>
          <a:lstStyle/>
          <a:p>
            <a:pPr indent="0" marL="0">
              <a:buNone/>
            </a:pPr>
            <a:r>
              <a:rPr lang="en-US" sz="900" b="1" spc="120" kern="0" dirty="0">
                <a:solidFill>
                  <a:srgbClr val="54D4A6"/>
                </a:solidFill>
                <a:latin typeface="Aptos" pitchFamily="34" charset="0"/>
                <a:ea typeface="Aptos" pitchFamily="34" charset="-122"/>
                <a:cs typeface="Aptos" pitchFamily="34" charset="-120"/>
              </a:rPr>
              <a:t>LOCAL WORKING PROTOTYPE</a:t>
            </a:r>
            <a:endParaRPr lang="en-US" sz="900" dirty="0"/>
          </a:p>
        </p:txBody>
      </p:sp>
      <p:sp>
        <p:nvSpPr>
          <p:cNvPr id="8" name="Text 6"/>
          <p:cNvSpPr/>
          <p:nvPr/>
        </p:nvSpPr>
        <p:spPr>
          <a:xfrm>
            <a:off x="694944" y="4553712"/>
            <a:ext cx="3977640" cy="603504"/>
          </a:xfrm>
          <a:prstGeom prst="rect">
            <a:avLst/>
          </a:prstGeom>
          <a:noFill/>
          <a:ln/>
        </p:spPr>
        <p:txBody>
          <a:bodyPr wrap="square" lIns="0" tIns="0" rIns="0" bIns="0" rtlCol="0" anchor="ctr">
            <a:normAutofit/>
          </a:bodyPr>
          <a:lstStyle/>
          <a:p>
            <a:pPr indent="0" marL="0">
              <a:buNone/>
            </a:pPr>
            <a:r>
              <a:rPr lang="en-US" sz="1400" dirty="0">
                <a:solidFill>
                  <a:srgbClr val="F4F7F9"/>
                </a:solidFill>
                <a:latin typeface="Aptos" pitchFamily="34" charset="0"/>
                <a:ea typeface="Aptos" pitchFamily="34" charset="-122"/>
                <a:cs typeface="Aptos" pitchFamily="34" charset="-120"/>
              </a:rPr>
              <a:t>Evidence first. Human review at every fix.</a:t>
            </a:r>
            <a:endParaRPr lang="en-US" sz="1400" dirty="0"/>
          </a:p>
        </p:txBody>
      </p:sp>
      <p:sp>
        <p:nvSpPr>
          <p:cNvPr id="9" name="Shape 7"/>
          <p:cNvSpPr/>
          <p:nvPr/>
        </p:nvSpPr>
        <p:spPr>
          <a:xfrm>
            <a:off x="7360920" y="694944"/>
            <a:ext cx="4169664" cy="5193792"/>
          </a:xfrm>
          <a:prstGeom prst="roundRect">
            <a:avLst>
              <a:gd name="adj" fmla="val 3070"/>
            </a:avLst>
          </a:prstGeom>
          <a:solidFill>
            <a:srgbClr val="142735"/>
          </a:solidFill>
          <a:ln w="12700">
            <a:solidFill>
              <a:srgbClr val="142735">
                <a:alpha val="0"/>
              </a:srgbClr>
            </a:solidFill>
            <a:prstDash val="solid"/>
          </a:ln>
        </p:spPr>
      </p:sp>
      <p:pic>
        <p:nvPicPr>
          <p:cNvPr id="10" name="Image 0" descr="C:/Users/saini/Documents/Codex/2026-09-25/yep-for-the-ibm-bob-2/work/play-store-ready-vibe-coded-apps/docs/hackathon/market-workspace.jpg">    </p:cNvPr>
          <p:cNvPicPr>
            <a:picLocks noChangeAspect="1"/>
          </p:cNvPicPr>
          <p:nvPr/>
        </p:nvPicPr>
        <p:blipFill>
          <a:blip r:embed="rId1"/>
          <a:stretch>
            <a:fillRect/>
          </a:stretch>
        </p:blipFill>
        <p:spPr>
          <a:xfrm>
            <a:off x="7452360" y="804672"/>
            <a:ext cx="3986784" cy="2660904"/>
          </a:xfrm>
          <a:prstGeom prst="rect">
            <a:avLst/>
          </a:prstGeom>
        </p:spPr>
      </p:pic>
      <p:sp>
        <p:nvSpPr>
          <p:cNvPr id="11" name="Text 8"/>
          <p:cNvSpPr/>
          <p:nvPr/>
        </p:nvSpPr>
        <p:spPr>
          <a:xfrm>
            <a:off x="7543800" y="3675888"/>
            <a:ext cx="2377440" cy="228600"/>
          </a:xfrm>
          <a:prstGeom prst="rect">
            <a:avLst/>
          </a:prstGeom>
          <a:noFill/>
          <a:ln/>
        </p:spPr>
        <p:txBody>
          <a:bodyPr wrap="square" lIns="0" tIns="0" rIns="0" bIns="0" rtlCol="0" anchor="ctr">
            <a:normAutofit/>
          </a:bodyPr>
          <a:lstStyle/>
          <a:p>
            <a:pPr indent="0" marL="0">
              <a:buNone/>
            </a:pPr>
            <a:r>
              <a:rPr lang="en-US" sz="900" b="1" spc="125" kern="0" dirty="0">
                <a:solidFill>
                  <a:srgbClr val="FC777B"/>
                </a:solidFill>
                <a:latin typeface="Aptos" pitchFamily="34" charset="0"/>
                <a:ea typeface="Aptos" pitchFamily="34" charset="-122"/>
                <a:cs typeface="Aptos" pitchFamily="34" charset="-120"/>
              </a:rPr>
              <a:t>RELEASE BLOCKED</a:t>
            </a:r>
            <a:endParaRPr lang="en-US" sz="900" dirty="0"/>
          </a:p>
        </p:txBody>
      </p:sp>
      <p:sp>
        <p:nvSpPr>
          <p:cNvPr id="12" name="Text 9"/>
          <p:cNvSpPr/>
          <p:nvPr/>
        </p:nvSpPr>
        <p:spPr>
          <a:xfrm>
            <a:off x="7525512" y="4041648"/>
            <a:ext cx="1170432" cy="676656"/>
          </a:xfrm>
          <a:prstGeom prst="rect">
            <a:avLst/>
          </a:prstGeom>
          <a:noFill/>
          <a:ln/>
        </p:spPr>
        <p:txBody>
          <a:bodyPr wrap="square" lIns="0" tIns="0" rIns="0" bIns="0" rtlCol="0" anchor="ctr">
            <a:normAutofit/>
          </a:bodyPr>
          <a:lstStyle/>
          <a:p>
            <a:pPr indent="0" marL="0">
              <a:buNone/>
            </a:pPr>
            <a:r>
              <a:rPr lang="en-US" sz="3800" b="1" dirty="0">
                <a:solidFill>
                  <a:srgbClr val="F4F7F9"/>
                </a:solidFill>
                <a:latin typeface="Aptos Display" pitchFamily="34" charset="0"/>
                <a:ea typeface="Aptos Display" pitchFamily="34" charset="-122"/>
                <a:cs typeface="Aptos Display" pitchFamily="34" charset="-120"/>
              </a:rPr>
              <a:t>43</a:t>
            </a:r>
            <a:endParaRPr lang="en-US" sz="3800" dirty="0"/>
          </a:p>
        </p:txBody>
      </p:sp>
      <p:sp>
        <p:nvSpPr>
          <p:cNvPr id="13" name="Text 10"/>
          <p:cNvSpPr/>
          <p:nvPr/>
        </p:nvSpPr>
        <p:spPr>
          <a:xfrm>
            <a:off x="8577072" y="4398264"/>
            <a:ext cx="731520" cy="219456"/>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 100</a:t>
            </a:r>
            <a:endParaRPr lang="en-US" sz="1100" dirty="0"/>
          </a:p>
        </p:txBody>
      </p:sp>
      <p:sp>
        <p:nvSpPr>
          <p:cNvPr id="14" name="Text 11"/>
          <p:cNvSpPr/>
          <p:nvPr/>
        </p:nvSpPr>
        <p:spPr>
          <a:xfrm>
            <a:off x="9281160" y="4197096"/>
            <a:ext cx="1901952" cy="274320"/>
          </a:xfrm>
          <a:prstGeom prst="rect">
            <a:avLst/>
          </a:prstGeom>
          <a:noFill/>
          <a:ln/>
        </p:spPr>
        <p:txBody>
          <a:bodyPr wrap="square" lIns="0" tIns="0" rIns="0" bIns="0" rtlCol="0" anchor="ctr">
            <a:normAutofit/>
          </a:bodyPr>
          <a:lstStyle/>
          <a:p>
            <a:pPr indent="0" marL="0">
              <a:buNone/>
            </a:pPr>
            <a:r>
              <a:rPr lang="en-US" sz="1200" b="1" dirty="0">
                <a:solidFill>
                  <a:srgbClr val="F4F7F9"/>
                </a:solidFill>
                <a:latin typeface="Aptos" pitchFamily="34" charset="0"/>
                <a:ea typeface="Aptos" pitchFamily="34" charset="-122"/>
                <a:cs typeface="Aptos" pitchFamily="34" charset="-120"/>
              </a:rPr>
              <a:t>2 blockers  |  3 warnings</a:t>
            </a:r>
            <a:endParaRPr lang="en-US" sz="1200" dirty="0"/>
          </a:p>
        </p:txBody>
      </p:sp>
      <p:sp>
        <p:nvSpPr>
          <p:cNvPr id="15" name="Text 12"/>
          <p:cNvSpPr/>
          <p:nvPr/>
        </p:nvSpPr>
        <p:spPr>
          <a:xfrm>
            <a:off x="7543800" y="5010912"/>
            <a:ext cx="3566160" cy="502920"/>
          </a:xfrm>
          <a:prstGeom prst="rect">
            <a:avLst/>
          </a:prstGeom>
          <a:noFill/>
          <a:ln/>
        </p:spPr>
        <p:txBody>
          <a:bodyPr wrap="square" lIns="0" tIns="0" rIns="0" bIns="0" rtlCol="0" anchor="t">
            <a:normAutofit/>
          </a:bodyPr>
          <a:lstStyle/>
          <a:p>
            <a:pPr indent="0" marL="0">
              <a:buNone/>
            </a:pPr>
            <a:r>
              <a:rPr lang="en-US" sz="1000" dirty="0">
                <a:solidFill>
                  <a:srgbClr val="B1C0C9"/>
                </a:solidFill>
                <a:latin typeface="Aptos" pitchFamily="34" charset="0"/>
                <a:ea typeface="Aptos" pitchFamily="34" charset="-122"/>
                <a:cs typeface="Aptos" pitchFamily="34" charset="-120"/>
              </a:rPr>
              <a:t>This score belongs only to the deliberately broken local fixture. Other apps remain unaudited.</a:t>
            </a:r>
            <a:endParaRPr lang="en-US" sz="10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PROBLEM</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Release checks are fragmented</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A green signal is hard to trust when tools cover different parts of the repository.</a:t>
            </a:r>
            <a:endParaRPr lang="en-US" sz="1300" dirty="0"/>
          </a:p>
        </p:txBody>
      </p:sp>
      <p:sp>
        <p:nvSpPr>
          <p:cNvPr id="5" name="Shape 3"/>
          <p:cNvSpPr/>
          <p:nvPr/>
        </p:nvSpPr>
        <p:spPr>
          <a:xfrm>
            <a:off x="621792"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6" name="Shape 4"/>
          <p:cNvSpPr/>
          <p:nvPr/>
        </p:nvSpPr>
        <p:spPr>
          <a:xfrm>
            <a:off x="621792" y="2084832"/>
            <a:ext cx="50292" cy="2514600"/>
          </a:xfrm>
          <a:prstGeom prst="roundRect">
            <a:avLst>
              <a:gd name="adj" fmla="val 218182"/>
            </a:avLst>
          </a:prstGeom>
          <a:solidFill>
            <a:srgbClr val="4A91FF"/>
          </a:solidFill>
          <a:ln w="12700">
            <a:solidFill>
              <a:srgbClr val="4A91FF">
                <a:alpha val="0"/>
              </a:srgbClr>
            </a:solidFill>
            <a:prstDash val="solid"/>
          </a:ln>
        </p:spPr>
      </p:sp>
      <p:sp>
        <p:nvSpPr>
          <p:cNvPr id="7" name="Text 5"/>
          <p:cNvSpPr/>
          <p:nvPr/>
        </p:nvSpPr>
        <p:spPr>
          <a:xfrm>
            <a:off x="832104"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4A91FF"/>
                </a:solidFill>
                <a:latin typeface="Aptos" pitchFamily="34" charset="0"/>
                <a:ea typeface="Aptos" pitchFamily="34" charset="-122"/>
                <a:cs typeface="Aptos" pitchFamily="34" charset="-120"/>
              </a:rPr>
              <a:t>01  /  SCATTERED SIGNALS</a:t>
            </a:r>
            <a:endParaRPr lang="en-US" sz="800" dirty="0"/>
          </a:p>
        </p:txBody>
      </p:sp>
      <p:sp>
        <p:nvSpPr>
          <p:cNvPr id="8" name="Text 6"/>
          <p:cNvSpPr/>
          <p:nvPr/>
        </p:nvSpPr>
        <p:spPr>
          <a:xfrm>
            <a:off x="832104"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Many check surfaces</a:t>
            </a:r>
            <a:endParaRPr lang="en-US" sz="1800" dirty="0"/>
          </a:p>
        </p:txBody>
      </p:sp>
      <p:sp>
        <p:nvSpPr>
          <p:cNvPr id="9" name="Text 7"/>
          <p:cNvSpPr/>
          <p:nvPr/>
        </p:nvSpPr>
        <p:spPr>
          <a:xfrm>
            <a:off x="832104"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Security, dependencies, tests, builds, CI, deployment, docs and licensing each leave a different trail.</a:t>
            </a:r>
            <a:endParaRPr lang="en-US" sz="1150" dirty="0"/>
          </a:p>
        </p:txBody>
      </p:sp>
      <p:sp>
        <p:nvSpPr>
          <p:cNvPr id="10" name="Shape 8"/>
          <p:cNvSpPr/>
          <p:nvPr/>
        </p:nvSpPr>
        <p:spPr>
          <a:xfrm>
            <a:off x="4361688"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11" name="Shape 9"/>
          <p:cNvSpPr/>
          <p:nvPr/>
        </p:nvSpPr>
        <p:spPr>
          <a:xfrm>
            <a:off x="4361688" y="2084832"/>
            <a:ext cx="50292" cy="2514600"/>
          </a:xfrm>
          <a:prstGeom prst="roundRect">
            <a:avLst>
              <a:gd name="adj" fmla="val 218182"/>
            </a:avLst>
          </a:prstGeom>
          <a:solidFill>
            <a:srgbClr val="F1BA64"/>
          </a:solidFill>
          <a:ln w="12700">
            <a:solidFill>
              <a:srgbClr val="F1BA64">
                <a:alpha val="0"/>
              </a:srgbClr>
            </a:solidFill>
            <a:prstDash val="solid"/>
          </a:ln>
        </p:spPr>
      </p:sp>
      <p:sp>
        <p:nvSpPr>
          <p:cNvPr id="12" name="Text 10"/>
          <p:cNvSpPr/>
          <p:nvPr/>
        </p:nvSpPr>
        <p:spPr>
          <a:xfrm>
            <a:off x="4572000"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F1BA64"/>
                </a:solidFill>
                <a:latin typeface="Aptos" pitchFamily="34" charset="0"/>
                <a:ea typeface="Aptos" pitchFamily="34" charset="-122"/>
                <a:cs typeface="Aptos" pitchFamily="34" charset="-120"/>
              </a:rPr>
              <a:t>02  /  HIDDEN UNKNOWNS</a:t>
            </a:r>
            <a:endParaRPr lang="en-US" sz="800" dirty="0"/>
          </a:p>
        </p:txBody>
      </p:sp>
      <p:sp>
        <p:nvSpPr>
          <p:cNvPr id="13" name="Text 11"/>
          <p:cNvSpPr/>
          <p:nvPr/>
        </p:nvSpPr>
        <p:spPr>
          <a:xfrm>
            <a:off x="4572000"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Gaps resemble passes</a:t>
            </a:r>
            <a:endParaRPr lang="en-US" sz="1800" dirty="0"/>
          </a:p>
        </p:txBody>
      </p:sp>
      <p:sp>
        <p:nvSpPr>
          <p:cNvPr id="14" name="Text 12"/>
          <p:cNvSpPr/>
          <p:nvPr/>
        </p:nvSpPr>
        <p:spPr>
          <a:xfrm>
            <a:off x="4572000"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Unavailable or unconfigured checks can be overlooked when results lack a shared status model.</a:t>
            </a:r>
            <a:endParaRPr lang="en-US" sz="1150" dirty="0"/>
          </a:p>
        </p:txBody>
      </p:sp>
      <p:sp>
        <p:nvSpPr>
          <p:cNvPr id="15" name="Shape 13"/>
          <p:cNvSpPr/>
          <p:nvPr/>
        </p:nvSpPr>
        <p:spPr>
          <a:xfrm>
            <a:off x="8101584"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16" name="Shape 14"/>
          <p:cNvSpPr/>
          <p:nvPr/>
        </p:nvSpPr>
        <p:spPr>
          <a:xfrm>
            <a:off x="8101584" y="2084832"/>
            <a:ext cx="50292" cy="2514600"/>
          </a:xfrm>
          <a:prstGeom prst="roundRect">
            <a:avLst>
              <a:gd name="adj" fmla="val 218182"/>
            </a:avLst>
          </a:prstGeom>
          <a:solidFill>
            <a:srgbClr val="FC777B"/>
          </a:solidFill>
          <a:ln w="12700">
            <a:solidFill>
              <a:srgbClr val="FC777B">
                <a:alpha val="0"/>
              </a:srgbClr>
            </a:solidFill>
            <a:prstDash val="solid"/>
          </a:ln>
        </p:spPr>
      </p:sp>
      <p:sp>
        <p:nvSpPr>
          <p:cNvPr id="17" name="Text 15"/>
          <p:cNvSpPr/>
          <p:nvPr/>
        </p:nvSpPr>
        <p:spPr>
          <a:xfrm>
            <a:off x="8311896"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FC777B"/>
                </a:solidFill>
                <a:latin typeface="Aptos" pitchFamily="34" charset="0"/>
                <a:ea typeface="Aptos" pitchFamily="34" charset="-122"/>
                <a:cs typeface="Aptos" pitchFamily="34" charset="-120"/>
              </a:rPr>
              <a:t>03  /  COSTLY HANDOFFS</a:t>
            </a:r>
            <a:endParaRPr lang="en-US" sz="800" dirty="0"/>
          </a:p>
        </p:txBody>
      </p:sp>
      <p:sp>
        <p:nvSpPr>
          <p:cNvPr id="18" name="Text 16"/>
          <p:cNvSpPr/>
          <p:nvPr/>
        </p:nvSpPr>
        <p:spPr>
          <a:xfrm>
            <a:off x="8311896"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Advice lacks context</a:t>
            </a:r>
            <a:endParaRPr lang="en-US" sz="1800" dirty="0"/>
          </a:p>
        </p:txBody>
      </p:sp>
      <p:sp>
        <p:nvSpPr>
          <p:cNvPr id="19" name="Text 17"/>
          <p:cNvSpPr/>
          <p:nvPr/>
        </p:nvSpPr>
        <p:spPr>
          <a:xfrm>
            <a:off x="8311896"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Teams still need the file, rule, evidence and verification step to make a safe change.</a:t>
            </a:r>
            <a:endParaRPr lang="en-US" sz="1150" dirty="0"/>
          </a:p>
        </p:txBody>
      </p:sp>
      <p:sp>
        <p:nvSpPr>
          <p:cNvPr id="20" name="Shape 18"/>
          <p:cNvSpPr/>
          <p:nvPr/>
        </p:nvSpPr>
        <p:spPr>
          <a:xfrm>
            <a:off x="621792" y="5074920"/>
            <a:ext cx="10927080" cy="749808"/>
          </a:xfrm>
          <a:prstGeom prst="roundRect">
            <a:avLst>
              <a:gd name="adj" fmla="val 14634"/>
            </a:avLst>
          </a:prstGeom>
          <a:solidFill>
            <a:srgbClr val="1A3444"/>
          </a:solidFill>
          <a:ln w="12700">
            <a:solidFill>
              <a:srgbClr val="1A3444">
                <a:alpha val="0"/>
              </a:srgbClr>
            </a:solidFill>
            <a:prstDash val="solid"/>
          </a:ln>
        </p:spPr>
      </p:sp>
      <p:sp>
        <p:nvSpPr>
          <p:cNvPr id="21" name="Text 19"/>
          <p:cNvSpPr/>
          <p:nvPr/>
        </p:nvSpPr>
        <p:spPr>
          <a:xfrm>
            <a:off x="868680" y="5285232"/>
            <a:ext cx="1600200" cy="201168"/>
          </a:xfrm>
          <a:prstGeom prst="rect">
            <a:avLst/>
          </a:prstGeom>
          <a:noFill/>
          <a:ln/>
        </p:spPr>
        <p:txBody>
          <a:bodyPr wrap="square" lIns="0" tIns="0" rIns="0" bIns="0" rtlCol="0" anchor="ctr">
            <a:normAutofit/>
          </a:bodyPr>
          <a:lstStyle/>
          <a:p>
            <a:pPr indent="0" marL="0">
              <a:buNone/>
            </a:pPr>
            <a:r>
              <a:rPr lang="en-US" sz="900" b="1" spc="120" kern="0" dirty="0">
                <a:solidFill>
                  <a:srgbClr val="54D4A6"/>
                </a:solidFill>
                <a:latin typeface="Aptos" pitchFamily="34" charset="0"/>
                <a:ea typeface="Aptos" pitchFamily="34" charset="-122"/>
                <a:cs typeface="Aptos" pitchFamily="34" charset="-120"/>
              </a:rPr>
              <a:t>STOREREADY</a:t>
            </a:r>
            <a:endParaRPr lang="en-US" sz="900" dirty="0"/>
          </a:p>
        </p:txBody>
      </p:sp>
      <p:sp>
        <p:nvSpPr>
          <p:cNvPr id="22" name="Text 20"/>
          <p:cNvSpPr/>
          <p:nvPr/>
        </p:nvSpPr>
        <p:spPr>
          <a:xfrm>
            <a:off x="2578608" y="5212080"/>
            <a:ext cx="8183880" cy="393192"/>
          </a:xfrm>
          <a:prstGeom prst="rect">
            <a:avLst/>
          </a:prstGeom>
          <a:noFill/>
          <a:ln/>
        </p:spPr>
        <p:txBody>
          <a:bodyPr wrap="square" lIns="0" tIns="0" rIns="0" bIns="0" rtlCol="0" anchor="ctr">
            <a:normAutofit/>
          </a:bodyPr>
          <a:lstStyle/>
          <a:p>
            <a:pPr indent="0" marL="0">
              <a:buNone/>
            </a:pPr>
            <a:r>
              <a:rPr lang="en-US" sz="1700" b="1" dirty="0">
                <a:solidFill>
                  <a:srgbClr val="F4F7F9"/>
                </a:solidFill>
                <a:latin typeface="Aptos" pitchFamily="34" charset="0"/>
                <a:ea typeface="Aptos" pitchFamily="34" charset="-122"/>
                <a:cs typeface="Aptos" pitchFamily="34" charset="-120"/>
              </a:rPr>
              <a:t>One workspace, separate app evidence, and visible coverage limits.</a:t>
            </a:r>
            <a:endParaRPr lang="en-US" sz="17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WORKFLOW</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Every app gets its own market launch plan</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A portfolio view keeps each product’s store, SEO, asset, and review work in the right context.</a:t>
            </a:r>
            <a:endParaRPr lang="en-US" sz="1300" dirty="0"/>
          </a:p>
        </p:txBody>
      </p:sp>
      <p:sp>
        <p:nvSpPr>
          <p:cNvPr id="5" name="Shape 3"/>
          <p:cNvSpPr/>
          <p:nvPr/>
        </p:nvSpPr>
        <p:spPr>
          <a:xfrm>
            <a:off x="713232"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6" name="Text 4"/>
          <p:cNvSpPr/>
          <p:nvPr/>
        </p:nvSpPr>
        <p:spPr>
          <a:xfrm>
            <a:off x="914400"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4A91FF"/>
                </a:solidFill>
                <a:latin typeface="Aptos" pitchFamily="34" charset="0"/>
                <a:ea typeface="Aptos" pitchFamily="34" charset="-122"/>
                <a:cs typeface="Aptos" pitchFamily="34" charset="-120"/>
              </a:rPr>
              <a:t>01</a:t>
            </a:r>
            <a:endParaRPr lang="en-US" sz="1000" dirty="0"/>
          </a:p>
        </p:txBody>
      </p:sp>
      <p:sp>
        <p:nvSpPr>
          <p:cNvPr id="7" name="Text 5"/>
          <p:cNvSpPr/>
          <p:nvPr/>
        </p:nvSpPr>
        <p:spPr>
          <a:xfrm>
            <a:off x="914400"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Choose app</a:t>
            </a:r>
            <a:endParaRPr lang="en-US" sz="2000" dirty="0"/>
          </a:p>
        </p:txBody>
      </p:sp>
      <p:sp>
        <p:nvSpPr>
          <p:cNvPr id="8" name="Text 6"/>
          <p:cNvSpPr/>
          <p:nvPr/>
        </p:nvSpPr>
        <p:spPr>
          <a:xfrm>
            <a:off x="914400"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Keep listing tasks, release findings, and evidence separated by product.</a:t>
            </a:r>
            <a:endParaRPr lang="en-US" sz="1150" dirty="0"/>
          </a:p>
        </p:txBody>
      </p:sp>
      <p:sp>
        <p:nvSpPr>
          <p:cNvPr id="9" name="Shape 7"/>
          <p:cNvSpPr/>
          <p:nvPr/>
        </p:nvSpPr>
        <p:spPr>
          <a:xfrm>
            <a:off x="3575304"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0" name="Text 8"/>
          <p:cNvSpPr/>
          <p:nvPr/>
        </p:nvSpPr>
        <p:spPr>
          <a:xfrm>
            <a:off x="3776472"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F1BA64"/>
                </a:solidFill>
                <a:latin typeface="Aptos" pitchFamily="34" charset="0"/>
                <a:ea typeface="Aptos" pitchFamily="34" charset="-122"/>
                <a:cs typeface="Aptos" pitchFamily="34" charset="-120"/>
              </a:rPr>
              <a:t>02</a:t>
            </a:r>
            <a:endParaRPr lang="en-US" sz="1000" dirty="0"/>
          </a:p>
        </p:txBody>
      </p:sp>
      <p:sp>
        <p:nvSpPr>
          <p:cNvPr id="11" name="Text 9"/>
          <p:cNvSpPr/>
          <p:nvPr/>
        </p:nvSpPr>
        <p:spPr>
          <a:xfrm>
            <a:off x="3776472"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Choose market</a:t>
            </a:r>
            <a:endParaRPr lang="en-US" sz="2000" dirty="0"/>
          </a:p>
        </p:txBody>
      </p:sp>
      <p:sp>
        <p:nvSpPr>
          <p:cNvPr id="12" name="Text 10"/>
          <p:cNvSpPr/>
          <p:nvPr/>
        </p:nvSpPr>
        <p:spPr>
          <a:xfrm>
            <a:off x="3776472"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Set a country and locale across Play, App Store, Galaxy, web, and GitHub.</a:t>
            </a:r>
            <a:endParaRPr lang="en-US" sz="1150" dirty="0"/>
          </a:p>
        </p:txBody>
      </p:sp>
      <p:sp>
        <p:nvSpPr>
          <p:cNvPr id="13" name="Shape 11"/>
          <p:cNvSpPr/>
          <p:nvPr/>
        </p:nvSpPr>
        <p:spPr>
          <a:xfrm>
            <a:off x="6437376"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4" name="Text 12"/>
          <p:cNvSpPr/>
          <p:nvPr/>
        </p:nvSpPr>
        <p:spPr>
          <a:xfrm>
            <a:off x="6638544"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54D4A6"/>
                </a:solidFill>
                <a:latin typeface="Aptos" pitchFamily="34" charset="0"/>
                <a:ea typeface="Aptos" pitchFamily="34" charset="-122"/>
                <a:cs typeface="Aptos" pitchFamily="34" charset="-120"/>
              </a:rPr>
              <a:t>03</a:t>
            </a:r>
            <a:endParaRPr lang="en-US" sz="1000" dirty="0"/>
          </a:p>
        </p:txBody>
      </p:sp>
      <p:sp>
        <p:nvSpPr>
          <p:cNvPr id="15" name="Text 13"/>
          <p:cNvSpPr/>
          <p:nvPr/>
        </p:nvSpPr>
        <p:spPr>
          <a:xfrm>
            <a:off x="6638544"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Prepare plan</a:t>
            </a:r>
            <a:endParaRPr lang="en-US" sz="2000" dirty="0"/>
          </a:p>
        </p:txBody>
      </p:sp>
      <p:sp>
        <p:nvSpPr>
          <p:cNvPr id="16" name="Text 14"/>
          <p:cNvSpPr/>
          <p:nvPr/>
        </p:nvSpPr>
        <p:spPr>
          <a:xfrm>
            <a:off x="6638544"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Edit listing fields and track search, artwork, privacy, and policy reviews.</a:t>
            </a:r>
            <a:endParaRPr lang="en-US" sz="1150" dirty="0"/>
          </a:p>
        </p:txBody>
      </p:sp>
      <p:sp>
        <p:nvSpPr>
          <p:cNvPr id="17" name="Shape 15"/>
          <p:cNvSpPr/>
          <p:nvPr/>
        </p:nvSpPr>
        <p:spPr>
          <a:xfrm>
            <a:off x="9299448"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8" name="Text 16"/>
          <p:cNvSpPr/>
          <p:nvPr/>
        </p:nvSpPr>
        <p:spPr>
          <a:xfrm>
            <a:off x="9500616"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4A91FF"/>
                </a:solidFill>
                <a:latin typeface="Aptos" pitchFamily="34" charset="0"/>
                <a:ea typeface="Aptos" pitchFamily="34" charset="-122"/>
                <a:cs typeface="Aptos" pitchFamily="34" charset="-120"/>
              </a:rPr>
              <a:t>04</a:t>
            </a:r>
            <a:endParaRPr lang="en-US" sz="1000" dirty="0"/>
          </a:p>
        </p:txBody>
      </p:sp>
      <p:sp>
        <p:nvSpPr>
          <p:cNvPr id="19" name="Text 17"/>
          <p:cNvSpPr/>
          <p:nvPr/>
        </p:nvSpPr>
        <p:spPr>
          <a:xfrm>
            <a:off x="9500616"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Verify release</a:t>
            </a:r>
            <a:endParaRPr lang="en-US" sz="2000" dirty="0"/>
          </a:p>
        </p:txBody>
      </p:sp>
      <p:sp>
        <p:nvSpPr>
          <p:cNvPr id="20" name="Text 18"/>
          <p:cNvSpPr/>
          <p:nvPr/>
        </p:nvSpPr>
        <p:spPr>
          <a:xfrm>
            <a:off x="9500616"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Inspect source-backed static findings; keep unknown checks visible.</a:t>
            </a:r>
            <a:endParaRPr lang="en-US" sz="1150" dirty="0"/>
          </a:p>
        </p:txBody>
      </p:sp>
      <p:sp>
        <p:nvSpPr>
          <p:cNvPr id="21" name="Shape 19"/>
          <p:cNvSpPr/>
          <p:nvPr/>
        </p:nvSpPr>
        <p:spPr>
          <a:xfrm>
            <a:off x="3017520" y="3447288"/>
            <a:ext cx="438912" cy="0"/>
          </a:xfrm>
          <a:prstGeom prst="line">
            <a:avLst/>
          </a:prstGeom>
          <a:noFill/>
          <a:ln w="17780">
            <a:solidFill>
              <a:srgbClr val="8CA2B1"/>
            </a:solidFill>
            <a:prstDash val="solid"/>
            <a:headEnd type="none"/>
            <a:tailEnd type="none"/>
          </a:ln>
        </p:spPr>
      </p:sp>
      <p:sp>
        <p:nvSpPr>
          <p:cNvPr id="22" name="Shape 20"/>
          <p:cNvSpPr/>
          <p:nvPr/>
        </p:nvSpPr>
        <p:spPr>
          <a:xfrm>
            <a:off x="3383280" y="3346704"/>
            <a:ext cx="146304" cy="201168"/>
          </a:xfrm>
          <a:prstGeom prst="chevron">
            <a:avLst/>
          </a:prstGeom>
          <a:solidFill>
            <a:srgbClr val="8CA2B1"/>
          </a:solidFill>
          <a:ln w="12700">
            <a:solidFill>
              <a:srgbClr val="8CA2B1">
                <a:alpha val="0"/>
              </a:srgbClr>
            </a:solidFill>
            <a:prstDash val="solid"/>
          </a:ln>
        </p:spPr>
      </p:sp>
      <p:sp>
        <p:nvSpPr>
          <p:cNvPr id="23" name="Shape 21"/>
          <p:cNvSpPr/>
          <p:nvPr/>
        </p:nvSpPr>
        <p:spPr>
          <a:xfrm>
            <a:off x="5879592" y="3447288"/>
            <a:ext cx="438912" cy="0"/>
          </a:xfrm>
          <a:prstGeom prst="line">
            <a:avLst/>
          </a:prstGeom>
          <a:noFill/>
          <a:ln w="17780">
            <a:solidFill>
              <a:srgbClr val="8CA2B1"/>
            </a:solidFill>
            <a:prstDash val="solid"/>
            <a:headEnd type="none"/>
            <a:tailEnd type="none"/>
          </a:ln>
        </p:spPr>
      </p:sp>
      <p:sp>
        <p:nvSpPr>
          <p:cNvPr id="24" name="Shape 22"/>
          <p:cNvSpPr/>
          <p:nvPr/>
        </p:nvSpPr>
        <p:spPr>
          <a:xfrm>
            <a:off x="6245352" y="3346704"/>
            <a:ext cx="146304" cy="201168"/>
          </a:xfrm>
          <a:prstGeom prst="chevron">
            <a:avLst/>
          </a:prstGeom>
          <a:solidFill>
            <a:srgbClr val="8CA2B1"/>
          </a:solidFill>
          <a:ln w="12700">
            <a:solidFill>
              <a:srgbClr val="8CA2B1">
                <a:alpha val="0"/>
              </a:srgbClr>
            </a:solidFill>
            <a:prstDash val="solid"/>
          </a:ln>
        </p:spPr>
      </p:sp>
      <p:sp>
        <p:nvSpPr>
          <p:cNvPr id="25" name="Shape 23"/>
          <p:cNvSpPr/>
          <p:nvPr/>
        </p:nvSpPr>
        <p:spPr>
          <a:xfrm>
            <a:off x="8741664" y="3447288"/>
            <a:ext cx="438912" cy="0"/>
          </a:xfrm>
          <a:prstGeom prst="line">
            <a:avLst/>
          </a:prstGeom>
          <a:noFill/>
          <a:ln w="17780">
            <a:solidFill>
              <a:srgbClr val="8CA2B1"/>
            </a:solidFill>
            <a:prstDash val="solid"/>
            <a:headEnd type="none"/>
            <a:tailEnd type="none"/>
          </a:ln>
        </p:spPr>
      </p:sp>
      <p:sp>
        <p:nvSpPr>
          <p:cNvPr id="26" name="Shape 24"/>
          <p:cNvSpPr/>
          <p:nvPr/>
        </p:nvSpPr>
        <p:spPr>
          <a:xfrm>
            <a:off x="9107424" y="3346704"/>
            <a:ext cx="146304" cy="201168"/>
          </a:xfrm>
          <a:prstGeom prst="chevron">
            <a:avLst/>
          </a:prstGeom>
          <a:solidFill>
            <a:srgbClr val="8CA2B1"/>
          </a:solidFill>
          <a:ln w="12700">
            <a:solidFill>
              <a:srgbClr val="8CA2B1">
                <a:alpha val="0"/>
              </a:srgbClr>
            </a:solidFill>
            <a:prstDash val="solid"/>
          </a:ln>
        </p:spPr>
      </p:sp>
      <p:sp>
        <p:nvSpPr>
          <p:cNvPr id="27" name="Shape 25"/>
          <p:cNvSpPr/>
          <p:nvPr/>
        </p:nvSpPr>
        <p:spPr>
          <a:xfrm>
            <a:off x="731520" y="5074920"/>
            <a:ext cx="10716768" cy="603504"/>
          </a:xfrm>
          <a:prstGeom prst="roundRect">
            <a:avLst>
              <a:gd name="adj" fmla="val 18182"/>
            </a:avLst>
          </a:prstGeom>
          <a:solidFill>
            <a:srgbClr val="1A3444"/>
          </a:solidFill>
          <a:ln w="12700">
            <a:solidFill>
              <a:srgbClr val="1A3444">
                <a:alpha val="0"/>
              </a:srgbClr>
            </a:solidFill>
            <a:prstDash val="solid"/>
          </a:ln>
        </p:spPr>
      </p:sp>
      <p:sp>
        <p:nvSpPr>
          <p:cNvPr id="28" name="Text 26"/>
          <p:cNvSpPr/>
          <p:nvPr/>
        </p:nvSpPr>
        <p:spPr>
          <a:xfrm>
            <a:off x="987552" y="5266944"/>
            <a:ext cx="2057400" cy="201168"/>
          </a:xfrm>
          <a:prstGeom prst="rect">
            <a:avLst/>
          </a:prstGeom>
          <a:noFill/>
          <a:ln/>
        </p:spPr>
        <p:txBody>
          <a:bodyPr wrap="square" lIns="0" tIns="0" rIns="0" bIns="0" rtlCol="0" anchor="ctr">
            <a:normAutofit/>
          </a:bodyPr>
          <a:lstStyle/>
          <a:p>
            <a:pPr indent="0" marL="0">
              <a:buNone/>
            </a:pPr>
            <a:r>
              <a:rPr lang="en-US" sz="1300" b="1" dirty="0">
                <a:solidFill>
                  <a:srgbClr val="F4F7F9"/>
                </a:solidFill>
                <a:latin typeface="Aptos" pitchFamily="34" charset="0"/>
                <a:ea typeface="Aptos" pitchFamily="34" charset="-122"/>
                <a:cs typeface="Aptos" pitchFamily="34" charset="-120"/>
              </a:rPr>
              <a:t>6 starter locales</a:t>
            </a:r>
            <a:endParaRPr lang="en-US" sz="1300" dirty="0"/>
          </a:p>
        </p:txBody>
      </p:sp>
      <p:sp>
        <p:nvSpPr>
          <p:cNvPr id="29" name="Shape 27"/>
          <p:cNvSpPr/>
          <p:nvPr/>
        </p:nvSpPr>
        <p:spPr>
          <a:xfrm>
            <a:off x="3163824" y="5212080"/>
            <a:ext cx="0" cy="338328"/>
          </a:xfrm>
          <a:prstGeom prst="line">
            <a:avLst/>
          </a:prstGeom>
          <a:noFill/>
          <a:ln w="12700">
            <a:solidFill>
              <a:srgbClr val="29404E"/>
            </a:solidFill>
            <a:prstDash val="solid"/>
            <a:headEnd type="none"/>
            <a:tailEnd type="none"/>
          </a:ln>
        </p:spPr>
      </p:sp>
      <p:sp>
        <p:nvSpPr>
          <p:cNvPr id="30" name="Text 28"/>
          <p:cNvSpPr/>
          <p:nvPr/>
        </p:nvSpPr>
        <p:spPr>
          <a:xfrm>
            <a:off x="3438144" y="5266944"/>
            <a:ext cx="3657600" cy="201168"/>
          </a:xfrm>
          <a:prstGeom prst="rect">
            <a:avLst/>
          </a:prstGeom>
          <a:noFill/>
          <a:ln/>
        </p:spPr>
        <p:txBody>
          <a:bodyPr wrap="square" lIns="0" tIns="0" rIns="0" bIns="0" rtlCol="0" anchor="ctr">
            <a:normAutofit/>
          </a:bodyPr>
          <a:lstStyle/>
          <a:p>
            <a:pPr indent="0" marL="0">
              <a:buNone/>
            </a:pPr>
            <a:r>
              <a:rPr lang="en-US" sz="1200" dirty="0">
                <a:solidFill>
                  <a:srgbClr val="B1C0C9"/>
                </a:solidFill>
                <a:latin typeface="Aptos" pitchFamily="34" charset="0"/>
                <a:ea typeface="Aptos" pitchFamily="34" charset="-122"/>
                <a:cs typeface="Aptos" pitchFamily="34" charset="-120"/>
              </a:rPr>
              <a:t>Plan by app × country × channel</a:t>
            </a:r>
            <a:endParaRPr lang="en-US" sz="1200" dirty="0"/>
          </a:p>
        </p:txBody>
      </p:sp>
      <p:sp>
        <p:nvSpPr>
          <p:cNvPr id="31" name="Shape 29"/>
          <p:cNvSpPr/>
          <p:nvPr/>
        </p:nvSpPr>
        <p:spPr>
          <a:xfrm>
            <a:off x="7315200" y="5212080"/>
            <a:ext cx="0" cy="338328"/>
          </a:xfrm>
          <a:prstGeom prst="line">
            <a:avLst/>
          </a:prstGeom>
          <a:noFill/>
          <a:ln w="12700">
            <a:solidFill>
              <a:srgbClr val="29404E"/>
            </a:solidFill>
            <a:prstDash val="solid"/>
            <a:headEnd type="none"/>
            <a:tailEnd type="none"/>
          </a:ln>
        </p:spPr>
      </p:sp>
      <p:sp>
        <p:nvSpPr>
          <p:cNvPr id="32" name="Text 30"/>
          <p:cNvSpPr/>
          <p:nvPr/>
        </p:nvSpPr>
        <p:spPr>
          <a:xfrm>
            <a:off x="7589520" y="5266944"/>
            <a:ext cx="3520440" cy="201168"/>
          </a:xfrm>
          <a:prstGeom prst="rect">
            <a:avLst/>
          </a:prstGeom>
          <a:noFill/>
          <a:ln/>
        </p:spPr>
        <p:txBody>
          <a:bodyPr wrap="square" lIns="0" tIns="0" rIns="0" bIns="0" rtlCol="0" anchor="ctr">
            <a:normAutofit/>
          </a:bodyPr>
          <a:lstStyle/>
          <a:p>
            <a:pPr indent="0" marL="0">
              <a:buNone/>
            </a:pPr>
            <a:r>
              <a:rPr lang="en-US" sz="1200" b="1" dirty="0">
                <a:solidFill>
                  <a:srgbClr val="54D4A6"/>
                </a:solidFill>
                <a:latin typeface="Aptos" pitchFamily="34" charset="0"/>
                <a:ea typeface="Aptos" pitchFamily="34" charset="-122"/>
                <a:cs typeface="Aptos" pitchFamily="34" charset="-120"/>
              </a:rPr>
              <a:t>Apps without a scanner stay unaudited</a:t>
            </a:r>
            <a:endParaRPr lang="en-US" sz="12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PRODUCT</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A decision that shows its work</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The readiness score is paired with findings, check areas and explicit limits.</a:t>
            </a:r>
            <a:endParaRPr lang="en-US" sz="1300" dirty="0"/>
          </a:p>
        </p:txBody>
      </p:sp>
      <p:sp>
        <p:nvSpPr>
          <p:cNvPr id="5" name="Shape 3"/>
          <p:cNvSpPr/>
          <p:nvPr/>
        </p:nvSpPr>
        <p:spPr>
          <a:xfrm>
            <a:off x="630936" y="1828800"/>
            <a:ext cx="6537960" cy="4315968"/>
          </a:xfrm>
          <a:prstGeom prst="roundRect">
            <a:avLst>
              <a:gd name="adj" fmla="val 2542"/>
            </a:avLst>
          </a:prstGeom>
          <a:solidFill>
            <a:srgbClr val="F2F6F7"/>
          </a:solidFill>
          <a:ln w="12700">
            <a:solidFill>
              <a:srgbClr val="F2F6F7">
                <a:alpha val="0"/>
              </a:srgbClr>
            </a:solidFill>
            <a:prstDash val="solid"/>
          </a:ln>
        </p:spPr>
      </p:sp>
      <p:pic>
        <p:nvPicPr>
          <p:cNvPr id="6" name="Image 0" descr="C:/Users/saini/Documents/Codex/2026-09-25/yep-for-the-ibm-bob-2/work/play-store-ready-vibe-coded-apps/docs/hackathon/cover.jpg">    </p:cNvPr>
          <p:cNvPicPr>
            <a:picLocks noChangeAspect="1"/>
          </p:cNvPicPr>
          <p:nvPr/>
        </p:nvPicPr>
        <p:blipFill>
          <a:blip r:embed="rId1"/>
          <a:stretch>
            <a:fillRect/>
          </a:stretch>
        </p:blipFill>
        <p:spPr>
          <a:xfrm>
            <a:off x="749808" y="1975104"/>
            <a:ext cx="6281928" cy="4169664"/>
          </a:xfrm>
          <a:prstGeom prst="rect">
            <a:avLst/>
          </a:prstGeom>
        </p:spPr>
      </p:pic>
      <p:sp>
        <p:nvSpPr>
          <p:cNvPr id="7" name="Text 4"/>
          <p:cNvSpPr/>
          <p:nvPr/>
        </p:nvSpPr>
        <p:spPr>
          <a:xfrm>
            <a:off x="7589520" y="2011680"/>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54D4A6"/>
                </a:solidFill>
                <a:latin typeface="Aptos" pitchFamily="34" charset="0"/>
                <a:ea typeface="Aptos" pitchFamily="34" charset="-122"/>
                <a:cs typeface="Aptos" pitchFamily="34" charset="-120"/>
              </a:rPr>
              <a:t>DECISION</a:t>
            </a:r>
            <a:endParaRPr lang="en-US" sz="900" dirty="0"/>
          </a:p>
        </p:txBody>
      </p:sp>
      <p:sp>
        <p:nvSpPr>
          <p:cNvPr id="8" name="Text 5"/>
          <p:cNvSpPr/>
          <p:nvPr/>
        </p:nvSpPr>
        <p:spPr>
          <a:xfrm>
            <a:off x="7580376" y="2377440"/>
            <a:ext cx="2514600" cy="822960"/>
          </a:xfrm>
          <a:prstGeom prst="rect">
            <a:avLst/>
          </a:prstGeom>
          <a:noFill/>
          <a:ln/>
        </p:spPr>
        <p:txBody>
          <a:bodyPr wrap="square" lIns="0" tIns="0" rIns="0" bIns="0" rtlCol="0" anchor="ctr">
            <a:normAutofit/>
          </a:bodyPr>
          <a:lstStyle/>
          <a:p>
            <a:pPr indent="0" marL="0">
              <a:buNone/>
            </a:pPr>
            <a:r>
              <a:rPr lang="en-US" sz="2700" b="1" dirty="0">
                <a:solidFill>
                  <a:srgbClr val="FC777B"/>
                </a:solidFill>
                <a:latin typeface="Aptos Display" pitchFamily="34" charset="0"/>
                <a:ea typeface="Aptos Display" pitchFamily="34" charset="-122"/>
                <a:cs typeface="Aptos Display" pitchFamily="34" charset="-120"/>
              </a:rPr>
              <a:t>RELEASE</a:t>
            </a:r>
            <a:endParaRPr lang="en-US" sz="2700" dirty="0"/>
          </a:p>
          <a:p>
            <a:pPr indent="0" marL="0">
              <a:buNone/>
            </a:pPr>
            <a:r>
              <a:rPr lang="en-US" sz="2700" b="1" dirty="0">
                <a:solidFill>
                  <a:srgbClr val="FC777B"/>
                </a:solidFill>
                <a:latin typeface="Aptos Display" pitchFamily="34" charset="0"/>
                <a:ea typeface="Aptos Display" pitchFamily="34" charset="-122"/>
                <a:cs typeface="Aptos Display" pitchFamily="34" charset="-120"/>
              </a:rPr>
              <a:t>BLOCKED</a:t>
            </a:r>
            <a:endParaRPr lang="en-US" sz="2700" dirty="0"/>
          </a:p>
        </p:txBody>
      </p:sp>
      <p:sp>
        <p:nvSpPr>
          <p:cNvPr id="9" name="Text 6"/>
          <p:cNvSpPr/>
          <p:nvPr/>
        </p:nvSpPr>
        <p:spPr>
          <a:xfrm>
            <a:off x="7598664" y="3364992"/>
            <a:ext cx="2103120" cy="402336"/>
          </a:xfrm>
          <a:prstGeom prst="rect">
            <a:avLst/>
          </a:prstGeom>
          <a:noFill/>
          <a:ln/>
        </p:spPr>
        <p:txBody>
          <a:bodyPr wrap="square" lIns="0" tIns="0" rIns="0" bIns="0" rtlCol="0" anchor="ctr">
            <a:normAutofit/>
          </a:bodyPr>
          <a:lstStyle/>
          <a:p>
            <a:pPr indent="0" marL="0">
              <a:buNone/>
            </a:pPr>
            <a:r>
              <a:rPr lang="en-US" sz="2300" b="1" dirty="0">
                <a:solidFill>
                  <a:srgbClr val="F4F7F9"/>
                </a:solidFill>
                <a:latin typeface="Aptos" pitchFamily="34" charset="0"/>
                <a:ea typeface="Aptos" pitchFamily="34" charset="-122"/>
                <a:cs typeface="Aptos" pitchFamily="34" charset="-120"/>
              </a:rPr>
              <a:t>43 / 100</a:t>
            </a:r>
            <a:endParaRPr lang="en-US" sz="2300" dirty="0"/>
          </a:p>
        </p:txBody>
      </p:sp>
      <p:sp>
        <p:nvSpPr>
          <p:cNvPr id="10" name="Shape 7"/>
          <p:cNvSpPr/>
          <p:nvPr/>
        </p:nvSpPr>
        <p:spPr>
          <a:xfrm>
            <a:off x="7598664" y="3968496"/>
            <a:ext cx="3739896" cy="0"/>
          </a:xfrm>
          <a:prstGeom prst="line">
            <a:avLst/>
          </a:prstGeom>
          <a:noFill/>
          <a:ln w="12700">
            <a:solidFill>
              <a:srgbClr val="29404E"/>
            </a:solidFill>
            <a:prstDash val="solid"/>
            <a:headEnd type="none"/>
            <a:tailEnd type="none"/>
          </a:ln>
        </p:spPr>
      </p:sp>
      <p:sp>
        <p:nvSpPr>
          <p:cNvPr id="11" name="Text 8"/>
          <p:cNvSpPr/>
          <p:nvPr/>
        </p:nvSpPr>
        <p:spPr>
          <a:xfrm>
            <a:off x="7598664" y="4233672"/>
            <a:ext cx="2651760" cy="274320"/>
          </a:xfrm>
          <a:prstGeom prst="rect">
            <a:avLst/>
          </a:prstGeom>
          <a:noFill/>
          <a:ln/>
        </p:spPr>
        <p:txBody>
          <a:bodyPr wrap="square" lIns="0" tIns="0" rIns="0" bIns="0" rtlCol="0" anchor="ctr">
            <a:normAutofit/>
          </a:bodyPr>
          <a:lstStyle/>
          <a:p>
            <a:pPr indent="0" marL="0">
              <a:buNone/>
            </a:pPr>
            <a:r>
              <a:rPr lang="en-US" sz="1400" b="1" dirty="0">
                <a:solidFill>
                  <a:srgbClr val="F4F7F9"/>
                </a:solidFill>
                <a:latin typeface="Aptos" pitchFamily="34" charset="0"/>
                <a:ea typeface="Aptos" pitchFamily="34" charset="-122"/>
                <a:cs typeface="Aptos" pitchFamily="34" charset="-120"/>
              </a:rPr>
              <a:t>2 blockers · 3 warnings</a:t>
            </a:r>
            <a:endParaRPr lang="en-US" sz="1400" dirty="0"/>
          </a:p>
        </p:txBody>
      </p:sp>
      <p:sp>
        <p:nvSpPr>
          <p:cNvPr id="12" name="Text 9"/>
          <p:cNvSpPr/>
          <p:nvPr/>
        </p:nvSpPr>
        <p:spPr>
          <a:xfrm>
            <a:off x="7598664" y="4645152"/>
            <a:ext cx="2331720" cy="256032"/>
          </a:xfrm>
          <a:prstGeom prst="rect">
            <a:avLst/>
          </a:prstGeom>
          <a:noFill/>
          <a:ln/>
        </p:spPr>
        <p:txBody>
          <a:bodyPr wrap="square" lIns="0" tIns="0" rIns="0" bIns="0" rtlCol="0" anchor="ctr">
            <a:normAutofit/>
          </a:bodyPr>
          <a:lstStyle/>
          <a:p>
            <a:pPr indent="0" marL="0">
              <a:buNone/>
            </a:pPr>
            <a:r>
              <a:rPr lang="en-US" sz="1200" dirty="0">
                <a:solidFill>
                  <a:srgbClr val="B1C0C9"/>
                </a:solidFill>
                <a:latin typeface="Aptos" pitchFamily="34" charset="0"/>
                <a:ea typeface="Aptos" pitchFamily="34" charset="-122"/>
                <a:cs typeface="Aptos" pitchFamily="34" charset="-120"/>
              </a:rPr>
              <a:t>17 checks  |  5 files</a:t>
            </a:r>
            <a:endParaRPr lang="en-US" sz="1200" dirty="0"/>
          </a:p>
        </p:txBody>
      </p:sp>
      <p:sp>
        <p:nvSpPr>
          <p:cNvPr id="13" name="Text 10"/>
          <p:cNvSpPr/>
          <p:nvPr/>
        </p:nvSpPr>
        <p:spPr>
          <a:xfrm>
            <a:off x="7598664" y="5148072"/>
            <a:ext cx="3383280" cy="704088"/>
          </a:xfrm>
          <a:prstGeom prst="rect">
            <a:avLst/>
          </a:prstGeom>
          <a:noFill/>
          <a:ln/>
        </p:spPr>
        <p:txBody>
          <a:bodyPr wrap="square" lIns="0" tIns="0" rIns="0" bIns="0" rtlCol="0" anchor="t">
            <a:normAutofit/>
          </a:bodyPr>
          <a:lstStyle/>
          <a:p>
            <a:pPr indent="0" marL="0">
              <a:buNone/>
            </a:pPr>
            <a:r>
              <a:rPr lang="en-US" sz="1100" dirty="0">
                <a:solidFill>
                  <a:srgbClr val="F1BA64"/>
                </a:solidFill>
                <a:latin typeface="Aptos" pitchFamily="34" charset="0"/>
                <a:ea typeface="Aptos" pitchFamily="34" charset="-122"/>
                <a:cs typeface="Aptos" pitchFamily="34" charset="-120"/>
              </a:rPr>
              <a:t>Tests and builds are not executed. Compliance is manual review or not assessed.</a:t>
            </a:r>
            <a:endParaRPr lang="en-US" sz="11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IBM BOB 2.0</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A human-reviewed remediation handoff</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ReleaseProof prepares the context; the developer owns the review and release decision.</a:t>
            </a:r>
            <a:endParaRPr lang="en-US" sz="1300" dirty="0"/>
          </a:p>
        </p:txBody>
      </p:sp>
      <p:sp>
        <p:nvSpPr>
          <p:cNvPr id="5" name="Shape 3"/>
          <p:cNvSpPr/>
          <p:nvPr/>
        </p:nvSpPr>
        <p:spPr>
          <a:xfrm>
            <a:off x="713232" y="2011680"/>
            <a:ext cx="6492240" cy="768096"/>
          </a:xfrm>
          <a:prstGeom prst="roundRect">
            <a:avLst>
              <a:gd name="adj" fmla="val 14286"/>
            </a:avLst>
          </a:prstGeom>
          <a:solidFill>
            <a:srgbClr val="142735"/>
          </a:solidFill>
          <a:ln w="12700">
            <a:solidFill>
              <a:srgbClr val="142735">
                <a:alpha val="0"/>
              </a:srgbClr>
            </a:solidFill>
            <a:prstDash val="solid"/>
          </a:ln>
        </p:spPr>
      </p:sp>
      <p:sp>
        <p:nvSpPr>
          <p:cNvPr id="6" name="Text 4"/>
          <p:cNvSpPr/>
          <p:nvPr/>
        </p:nvSpPr>
        <p:spPr>
          <a:xfrm>
            <a:off x="932688" y="2249424"/>
            <a:ext cx="512064" cy="219456"/>
          </a:xfrm>
          <a:prstGeom prst="rect">
            <a:avLst/>
          </a:prstGeom>
          <a:noFill/>
          <a:ln/>
        </p:spPr>
        <p:txBody>
          <a:bodyPr wrap="square" lIns="0" tIns="0" rIns="0" bIns="0" rtlCol="0" anchor="ctr">
            <a:normAutofit/>
          </a:bodyPr>
          <a:lstStyle/>
          <a:p>
            <a:pPr indent="0" marL="0">
              <a:buNone/>
            </a:pPr>
            <a:r>
              <a:rPr lang="en-US" sz="1100" b="1" dirty="0">
                <a:solidFill>
                  <a:srgbClr val="54D4A6"/>
                </a:solidFill>
                <a:latin typeface="Aptos" pitchFamily="34" charset="0"/>
                <a:ea typeface="Aptos" pitchFamily="34" charset="-122"/>
                <a:cs typeface="Aptos" pitchFamily="34" charset="-120"/>
              </a:rPr>
              <a:t>01</a:t>
            </a:r>
            <a:endParaRPr lang="en-US" sz="1100" dirty="0"/>
          </a:p>
        </p:txBody>
      </p:sp>
      <p:sp>
        <p:nvSpPr>
          <p:cNvPr id="7" name="Text 5"/>
          <p:cNvSpPr/>
          <p:nvPr/>
        </p:nvSpPr>
        <p:spPr>
          <a:xfrm>
            <a:off x="1572768" y="213969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Give Bob evidence</a:t>
            </a:r>
            <a:endParaRPr lang="en-US" sz="1500" dirty="0"/>
          </a:p>
        </p:txBody>
      </p:sp>
      <p:sp>
        <p:nvSpPr>
          <p:cNvPr id="8" name="Text 6"/>
          <p:cNvSpPr/>
          <p:nvPr/>
        </p:nvSpPr>
        <p:spPr>
          <a:xfrm>
            <a:off x="3566160" y="213969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Use the finding, source location, rule and remediation context to frame a focused task.</a:t>
            </a:r>
            <a:endParaRPr lang="en-US" sz="1100" dirty="0"/>
          </a:p>
        </p:txBody>
      </p:sp>
      <p:sp>
        <p:nvSpPr>
          <p:cNvPr id="9" name="Shape 7"/>
          <p:cNvSpPr/>
          <p:nvPr/>
        </p:nvSpPr>
        <p:spPr>
          <a:xfrm>
            <a:off x="713232" y="3017520"/>
            <a:ext cx="6492240" cy="768096"/>
          </a:xfrm>
          <a:prstGeom prst="roundRect">
            <a:avLst>
              <a:gd name="adj" fmla="val 14286"/>
            </a:avLst>
          </a:prstGeom>
          <a:solidFill>
            <a:srgbClr val="142735"/>
          </a:solidFill>
          <a:ln w="12700">
            <a:solidFill>
              <a:srgbClr val="142735">
                <a:alpha val="0"/>
              </a:srgbClr>
            </a:solidFill>
            <a:prstDash val="solid"/>
          </a:ln>
        </p:spPr>
      </p:sp>
      <p:sp>
        <p:nvSpPr>
          <p:cNvPr id="10" name="Text 8"/>
          <p:cNvSpPr/>
          <p:nvPr/>
        </p:nvSpPr>
        <p:spPr>
          <a:xfrm>
            <a:off x="932688" y="3255264"/>
            <a:ext cx="512064" cy="219456"/>
          </a:xfrm>
          <a:prstGeom prst="rect">
            <a:avLst/>
          </a:prstGeom>
          <a:noFill/>
          <a:ln/>
        </p:spPr>
        <p:txBody>
          <a:bodyPr wrap="square" lIns="0" tIns="0" rIns="0" bIns="0" rtlCol="0" anchor="ctr">
            <a:normAutofit/>
          </a:bodyPr>
          <a:lstStyle/>
          <a:p>
            <a:pPr indent="0" marL="0">
              <a:buNone/>
            </a:pPr>
            <a:r>
              <a:rPr lang="en-US" sz="1100" b="1" dirty="0">
                <a:solidFill>
                  <a:srgbClr val="F1BA64"/>
                </a:solidFill>
                <a:latin typeface="Aptos" pitchFamily="34" charset="0"/>
                <a:ea typeface="Aptos" pitchFamily="34" charset="-122"/>
                <a:cs typeface="Aptos" pitchFamily="34" charset="-120"/>
              </a:rPr>
              <a:t>02</a:t>
            </a:r>
            <a:endParaRPr lang="en-US" sz="1100" dirty="0"/>
          </a:p>
        </p:txBody>
      </p:sp>
      <p:sp>
        <p:nvSpPr>
          <p:cNvPr id="11" name="Text 9"/>
          <p:cNvSpPr/>
          <p:nvPr/>
        </p:nvSpPr>
        <p:spPr>
          <a:xfrm>
            <a:off x="1572768" y="314553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Review the proposal</a:t>
            </a:r>
            <a:endParaRPr lang="en-US" sz="1500" dirty="0"/>
          </a:p>
        </p:txBody>
      </p:sp>
      <p:sp>
        <p:nvSpPr>
          <p:cNvPr id="12" name="Text 10"/>
          <p:cNvSpPr/>
          <p:nvPr/>
        </p:nvSpPr>
        <p:spPr>
          <a:xfrm>
            <a:off x="3566160" y="314553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Inspect Bob’s actual changes in the repository before accepting a patch.</a:t>
            </a:r>
            <a:endParaRPr lang="en-US" sz="1100" dirty="0"/>
          </a:p>
        </p:txBody>
      </p:sp>
      <p:sp>
        <p:nvSpPr>
          <p:cNvPr id="13" name="Shape 11"/>
          <p:cNvSpPr/>
          <p:nvPr/>
        </p:nvSpPr>
        <p:spPr>
          <a:xfrm>
            <a:off x="713232" y="4023360"/>
            <a:ext cx="6492240" cy="768096"/>
          </a:xfrm>
          <a:prstGeom prst="roundRect">
            <a:avLst>
              <a:gd name="adj" fmla="val 14286"/>
            </a:avLst>
          </a:prstGeom>
          <a:solidFill>
            <a:srgbClr val="142735"/>
          </a:solidFill>
          <a:ln w="12700">
            <a:solidFill>
              <a:srgbClr val="142735">
                <a:alpha val="0"/>
              </a:srgbClr>
            </a:solidFill>
            <a:prstDash val="solid"/>
          </a:ln>
        </p:spPr>
      </p:sp>
      <p:sp>
        <p:nvSpPr>
          <p:cNvPr id="14" name="Text 12"/>
          <p:cNvSpPr/>
          <p:nvPr/>
        </p:nvSpPr>
        <p:spPr>
          <a:xfrm>
            <a:off x="932688" y="4261104"/>
            <a:ext cx="512064" cy="219456"/>
          </a:xfrm>
          <a:prstGeom prst="rect">
            <a:avLst/>
          </a:prstGeom>
          <a:noFill/>
          <a:ln/>
        </p:spPr>
        <p:txBody>
          <a:bodyPr wrap="square" lIns="0" tIns="0" rIns="0" bIns="0" rtlCol="0" anchor="ctr">
            <a:normAutofit/>
          </a:bodyPr>
          <a:lstStyle/>
          <a:p>
            <a:pPr indent="0" marL="0">
              <a:buNone/>
            </a:pPr>
            <a:r>
              <a:rPr lang="en-US" sz="1100" b="1" dirty="0">
                <a:solidFill>
                  <a:srgbClr val="54D4A6"/>
                </a:solidFill>
                <a:latin typeface="Aptos" pitchFamily="34" charset="0"/>
                <a:ea typeface="Aptos" pitchFamily="34" charset="-122"/>
                <a:cs typeface="Aptos" pitchFamily="34" charset="-120"/>
              </a:rPr>
              <a:t>03</a:t>
            </a:r>
            <a:endParaRPr lang="en-US" sz="1100" dirty="0"/>
          </a:p>
        </p:txBody>
      </p:sp>
      <p:sp>
        <p:nvSpPr>
          <p:cNvPr id="15" name="Text 13"/>
          <p:cNvSpPr/>
          <p:nvPr/>
        </p:nvSpPr>
        <p:spPr>
          <a:xfrm>
            <a:off x="1572768" y="415137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Verify again</a:t>
            </a:r>
            <a:endParaRPr lang="en-US" sz="1500" dirty="0"/>
          </a:p>
        </p:txBody>
      </p:sp>
      <p:sp>
        <p:nvSpPr>
          <p:cNvPr id="16" name="Text 14"/>
          <p:cNvSpPr/>
          <p:nvPr/>
        </p:nvSpPr>
        <p:spPr>
          <a:xfrm>
            <a:off x="3566160" y="415137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Run the checks that apply, inspect unresolved coverage and keep results evidence-backed.</a:t>
            </a:r>
            <a:endParaRPr lang="en-US" sz="1100" dirty="0"/>
          </a:p>
        </p:txBody>
      </p:sp>
      <p:sp>
        <p:nvSpPr>
          <p:cNvPr id="17" name="Shape 15"/>
          <p:cNvSpPr/>
          <p:nvPr/>
        </p:nvSpPr>
        <p:spPr>
          <a:xfrm>
            <a:off x="7635240" y="2011680"/>
            <a:ext cx="3703320" cy="2779776"/>
          </a:xfrm>
          <a:prstGeom prst="roundRect">
            <a:avLst>
              <a:gd name="adj" fmla="val 3947"/>
            </a:avLst>
          </a:prstGeom>
          <a:solidFill>
            <a:srgbClr val="1A3444"/>
          </a:solidFill>
          <a:ln w="12700">
            <a:solidFill>
              <a:srgbClr val="1A3444">
                <a:alpha val="0"/>
              </a:srgbClr>
            </a:solidFill>
            <a:prstDash val="solid"/>
          </a:ln>
        </p:spPr>
      </p:sp>
      <p:sp>
        <p:nvSpPr>
          <p:cNvPr id="18" name="Text 16"/>
          <p:cNvSpPr/>
          <p:nvPr/>
        </p:nvSpPr>
        <p:spPr>
          <a:xfrm>
            <a:off x="7936992" y="2350008"/>
            <a:ext cx="2926080" cy="210312"/>
          </a:xfrm>
          <a:prstGeom prst="rect">
            <a:avLst/>
          </a:prstGeom>
          <a:noFill/>
          <a:ln/>
        </p:spPr>
        <p:txBody>
          <a:bodyPr wrap="square" lIns="0" tIns="0" rIns="0" bIns="0" rtlCol="0" anchor="ctr">
            <a:normAutofit/>
          </a:bodyPr>
          <a:lstStyle/>
          <a:p>
            <a:pPr indent="0" marL="0">
              <a:buNone/>
            </a:pPr>
            <a:r>
              <a:rPr lang="en-US" sz="900" b="1" spc="120" kern="0" dirty="0">
                <a:solidFill>
                  <a:srgbClr val="F1BA64"/>
                </a:solidFill>
                <a:latin typeface="Aptos" pitchFamily="34" charset="0"/>
                <a:ea typeface="Aptos" pitchFamily="34" charset="-122"/>
                <a:cs typeface="Aptos" pitchFamily="34" charset="-120"/>
              </a:rPr>
              <a:t>SUBMISSION EVIDENCE</a:t>
            </a:r>
            <a:endParaRPr lang="en-US" sz="900" dirty="0"/>
          </a:p>
        </p:txBody>
      </p:sp>
      <p:sp>
        <p:nvSpPr>
          <p:cNvPr id="19" name="Text 17"/>
          <p:cNvSpPr/>
          <p:nvPr/>
        </p:nvSpPr>
        <p:spPr>
          <a:xfrm>
            <a:off x="7927848" y="2761488"/>
            <a:ext cx="2944368" cy="640080"/>
          </a:xfrm>
          <a:prstGeom prst="rect">
            <a:avLst/>
          </a:prstGeom>
          <a:noFill/>
          <a:ln/>
        </p:spPr>
        <p:txBody>
          <a:bodyPr wrap="square" lIns="0" tIns="0" rIns="0" bIns="0" rtlCol="0" anchor="ctr">
            <a:normAutofit/>
          </a:bodyPr>
          <a:lstStyle/>
          <a:p>
            <a:pPr indent="0" marL="0">
              <a:buNone/>
            </a:pPr>
            <a:r>
              <a:rPr lang="en-US" sz="1900" b="1" dirty="0">
                <a:solidFill>
                  <a:srgbClr val="F4F7F9"/>
                </a:solidFill>
                <a:latin typeface="Aptos Display" pitchFamily="34" charset="0"/>
                <a:ea typeface="Aptos Display" pitchFamily="34" charset="-122"/>
                <a:cs typeface="Aptos Display" pitchFamily="34" charset="-120"/>
              </a:rPr>
              <a:t>Real Bob sessions still need to be captured.</a:t>
            </a:r>
            <a:endParaRPr lang="en-US" sz="1900" dirty="0"/>
          </a:p>
        </p:txBody>
      </p:sp>
      <p:sp>
        <p:nvSpPr>
          <p:cNvPr id="20" name="Text 18"/>
          <p:cNvSpPr/>
          <p:nvPr/>
        </p:nvSpPr>
        <p:spPr>
          <a:xfrm>
            <a:off x="7946136" y="3685032"/>
            <a:ext cx="2889504" cy="777240"/>
          </a:xfrm>
          <a:prstGeom prst="rect">
            <a:avLst/>
          </a:prstGeom>
          <a:noFill/>
          <a:ln/>
        </p:spPr>
        <p:txBody>
          <a:bodyPr wrap="square" lIns="0" tIns="0" rIns="0" bIns="0" rtlCol="0" anchor="t">
            <a:normAutofit/>
          </a:bodyPr>
          <a:lstStyle/>
          <a:p>
            <a:pPr indent="0" marL="0">
              <a:buNone/>
            </a:pPr>
            <a:r>
              <a:rPr lang="en-US" sz="1100" dirty="0">
                <a:solidFill>
                  <a:srgbClr val="B1C0C9"/>
                </a:solidFill>
                <a:latin typeface="Aptos" pitchFamily="34" charset="0"/>
                <a:ea typeface="Aptos" pitchFamily="34" charset="-122"/>
                <a:cs typeface="Aptos" pitchFamily="34" charset="-120"/>
              </a:rPr>
              <a:t>Task prompts and this prototype do not count as session proof. Add authentic session summaries for each participating team member before submission.</a:t>
            </a:r>
            <a:endParaRPr lang="en-US" sz="1100" dirty="0"/>
          </a:p>
        </p:txBody>
      </p:sp>
      <p:sp>
        <p:nvSpPr>
          <p:cNvPr id="21" name="Shape 19"/>
          <p:cNvSpPr/>
          <p:nvPr/>
        </p:nvSpPr>
        <p:spPr>
          <a:xfrm>
            <a:off x="7936992" y="5138928"/>
            <a:ext cx="3063240" cy="393192"/>
          </a:xfrm>
          <a:prstGeom prst="roundRect">
            <a:avLst>
              <a:gd name="adj" fmla="val 27907"/>
            </a:avLst>
          </a:prstGeom>
          <a:solidFill>
            <a:srgbClr val="142735"/>
          </a:solidFill>
          <a:ln w="12700">
            <a:solidFill>
              <a:srgbClr val="142735">
                <a:alpha val="0"/>
              </a:srgbClr>
            </a:solidFill>
            <a:prstDash val="solid"/>
          </a:ln>
        </p:spPr>
      </p:sp>
      <p:sp>
        <p:nvSpPr>
          <p:cNvPr id="22" name="Text 20"/>
          <p:cNvSpPr/>
          <p:nvPr/>
        </p:nvSpPr>
        <p:spPr>
          <a:xfrm>
            <a:off x="8083296" y="5248656"/>
            <a:ext cx="2816352" cy="146304"/>
          </a:xfrm>
          <a:prstGeom prst="rect">
            <a:avLst/>
          </a:prstGeom>
          <a:noFill/>
          <a:ln/>
        </p:spPr>
        <p:txBody>
          <a:bodyPr wrap="square" lIns="0" tIns="0" rIns="0" bIns="0" rtlCol="0" anchor="ctr">
            <a:normAutofit/>
          </a:bodyPr>
          <a:lstStyle/>
          <a:p>
            <a:pPr indent="0" marL="0">
              <a:buNone/>
            </a:pPr>
            <a:r>
              <a:rPr lang="en-US" sz="800" b="1" spc="90" kern="0" dirty="0">
                <a:solidFill>
                  <a:srgbClr val="F1BA64"/>
                </a:solidFill>
                <a:latin typeface="Aptos" pitchFamily="34" charset="0"/>
                <a:ea typeface="Aptos" pitchFamily="34" charset="-122"/>
                <a:cs typeface="Aptos" pitchFamily="34" charset="-120"/>
              </a:rPr>
              <a:t>SESSION SCREENSHOTS: PENDING</a:t>
            </a:r>
            <a:endParaRPr lang="en-US" sz="8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WHY IT MATTERS</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Built around the four judging dimensions</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The prototype demonstrates a working loop and keeps what remains visible.</a:t>
            </a:r>
            <a:endParaRPr lang="en-US" sz="1300" dirty="0"/>
          </a:p>
        </p:txBody>
      </p:sp>
      <p:sp>
        <p:nvSpPr>
          <p:cNvPr id="5" name="Shape 3"/>
          <p:cNvSpPr/>
          <p:nvPr/>
        </p:nvSpPr>
        <p:spPr>
          <a:xfrm>
            <a:off x="694944" y="1993392"/>
            <a:ext cx="5285232" cy="1280160"/>
          </a:xfrm>
          <a:prstGeom prst="roundRect">
            <a:avLst>
              <a:gd name="adj" fmla="val 8571"/>
            </a:avLst>
          </a:prstGeom>
          <a:solidFill>
            <a:srgbClr val="142735"/>
          </a:solidFill>
          <a:ln w="12700">
            <a:solidFill>
              <a:srgbClr val="142735">
                <a:alpha val="0"/>
              </a:srgbClr>
            </a:solidFill>
            <a:prstDash val="solid"/>
          </a:ln>
        </p:spPr>
      </p:sp>
      <p:sp>
        <p:nvSpPr>
          <p:cNvPr id="6" name="Shape 4"/>
          <p:cNvSpPr/>
          <p:nvPr/>
        </p:nvSpPr>
        <p:spPr>
          <a:xfrm>
            <a:off x="896112" y="2221992"/>
            <a:ext cx="54864" cy="804672"/>
          </a:xfrm>
          <a:prstGeom prst="roundRect">
            <a:avLst>
              <a:gd name="adj" fmla="val 200000"/>
            </a:avLst>
          </a:prstGeom>
          <a:solidFill>
            <a:srgbClr val="4A91FF"/>
          </a:solidFill>
          <a:ln w="12700">
            <a:solidFill>
              <a:srgbClr val="4A91FF">
                <a:alpha val="0"/>
              </a:srgbClr>
            </a:solidFill>
            <a:prstDash val="solid"/>
          </a:ln>
        </p:spPr>
      </p:sp>
      <p:sp>
        <p:nvSpPr>
          <p:cNvPr id="7" name="Text 5"/>
          <p:cNvSpPr/>
          <p:nvPr/>
        </p:nvSpPr>
        <p:spPr>
          <a:xfrm>
            <a:off x="1133856" y="2212848"/>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4A91FF"/>
                </a:solidFill>
                <a:latin typeface="Aptos" pitchFamily="34" charset="0"/>
                <a:ea typeface="Aptos" pitchFamily="34" charset="-122"/>
                <a:cs typeface="Aptos" pitchFamily="34" charset="-120"/>
              </a:rPr>
              <a:t>APPLICATION OF TECHNOLOGY</a:t>
            </a:r>
            <a:endParaRPr lang="en-US" sz="800" dirty="0"/>
          </a:p>
        </p:txBody>
      </p:sp>
      <p:sp>
        <p:nvSpPr>
          <p:cNvPr id="8" name="Text 6"/>
          <p:cNvSpPr/>
          <p:nvPr/>
        </p:nvSpPr>
        <p:spPr>
          <a:xfrm>
            <a:off x="1133856" y="2551176"/>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Deterministic static checks, source evidence, redaction and portable reports.</a:t>
            </a:r>
            <a:endParaRPr lang="en-US" sz="1300" dirty="0"/>
          </a:p>
        </p:txBody>
      </p:sp>
      <p:sp>
        <p:nvSpPr>
          <p:cNvPr id="9" name="Shape 7"/>
          <p:cNvSpPr/>
          <p:nvPr/>
        </p:nvSpPr>
        <p:spPr>
          <a:xfrm>
            <a:off x="6217920" y="1993392"/>
            <a:ext cx="5285232" cy="1280160"/>
          </a:xfrm>
          <a:prstGeom prst="roundRect">
            <a:avLst>
              <a:gd name="adj" fmla="val 8571"/>
            </a:avLst>
          </a:prstGeom>
          <a:solidFill>
            <a:srgbClr val="142735"/>
          </a:solidFill>
          <a:ln w="12700">
            <a:solidFill>
              <a:srgbClr val="142735">
                <a:alpha val="0"/>
              </a:srgbClr>
            </a:solidFill>
            <a:prstDash val="solid"/>
          </a:ln>
        </p:spPr>
      </p:sp>
      <p:sp>
        <p:nvSpPr>
          <p:cNvPr id="10" name="Shape 8"/>
          <p:cNvSpPr/>
          <p:nvPr/>
        </p:nvSpPr>
        <p:spPr>
          <a:xfrm>
            <a:off x="6419088" y="2221992"/>
            <a:ext cx="54864" cy="804672"/>
          </a:xfrm>
          <a:prstGeom prst="roundRect">
            <a:avLst>
              <a:gd name="adj" fmla="val 200000"/>
            </a:avLst>
          </a:prstGeom>
          <a:solidFill>
            <a:srgbClr val="54D4A6"/>
          </a:solidFill>
          <a:ln w="12700">
            <a:solidFill>
              <a:srgbClr val="54D4A6">
                <a:alpha val="0"/>
              </a:srgbClr>
            </a:solidFill>
            <a:prstDash val="solid"/>
          </a:ln>
        </p:spPr>
      </p:sp>
      <p:sp>
        <p:nvSpPr>
          <p:cNvPr id="11" name="Text 9"/>
          <p:cNvSpPr/>
          <p:nvPr/>
        </p:nvSpPr>
        <p:spPr>
          <a:xfrm>
            <a:off x="6656832" y="2212848"/>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54D4A6"/>
                </a:solidFill>
                <a:latin typeface="Aptos" pitchFamily="34" charset="0"/>
                <a:ea typeface="Aptos" pitchFamily="34" charset="-122"/>
                <a:cs typeface="Aptos" pitchFamily="34" charset="-120"/>
              </a:rPr>
              <a:t>PRESENTATION</a:t>
            </a:r>
            <a:endParaRPr lang="en-US" sz="800" dirty="0"/>
          </a:p>
        </p:txBody>
      </p:sp>
      <p:sp>
        <p:nvSpPr>
          <p:cNvPr id="12" name="Text 10"/>
          <p:cNvSpPr/>
          <p:nvPr/>
        </p:nvSpPr>
        <p:spPr>
          <a:xfrm>
            <a:off x="6656832" y="2551176"/>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A live broken fixture to audit to review to re-audit product walkthrough.</a:t>
            </a:r>
            <a:endParaRPr lang="en-US" sz="1300" dirty="0"/>
          </a:p>
        </p:txBody>
      </p:sp>
      <p:sp>
        <p:nvSpPr>
          <p:cNvPr id="13" name="Shape 11"/>
          <p:cNvSpPr/>
          <p:nvPr/>
        </p:nvSpPr>
        <p:spPr>
          <a:xfrm>
            <a:off x="694944" y="3575304"/>
            <a:ext cx="5285232" cy="1280160"/>
          </a:xfrm>
          <a:prstGeom prst="roundRect">
            <a:avLst>
              <a:gd name="adj" fmla="val 8571"/>
            </a:avLst>
          </a:prstGeom>
          <a:solidFill>
            <a:srgbClr val="142735"/>
          </a:solidFill>
          <a:ln w="12700">
            <a:solidFill>
              <a:srgbClr val="142735">
                <a:alpha val="0"/>
              </a:srgbClr>
            </a:solidFill>
            <a:prstDash val="solid"/>
          </a:ln>
        </p:spPr>
      </p:sp>
      <p:sp>
        <p:nvSpPr>
          <p:cNvPr id="14" name="Shape 12"/>
          <p:cNvSpPr/>
          <p:nvPr/>
        </p:nvSpPr>
        <p:spPr>
          <a:xfrm>
            <a:off x="896112" y="3803904"/>
            <a:ext cx="54864" cy="804672"/>
          </a:xfrm>
          <a:prstGeom prst="roundRect">
            <a:avLst>
              <a:gd name="adj" fmla="val 200000"/>
            </a:avLst>
          </a:prstGeom>
          <a:solidFill>
            <a:srgbClr val="F1BA64"/>
          </a:solidFill>
          <a:ln w="12700">
            <a:solidFill>
              <a:srgbClr val="F1BA64">
                <a:alpha val="0"/>
              </a:srgbClr>
            </a:solidFill>
            <a:prstDash val="solid"/>
          </a:ln>
        </p:spPr>
      </p:sp>
      <p:sp>
        <p:nvSpPr>
          <p:cNvPr id="15" name="Text 13"/>
          <p:cNvSpPr/>
          <p:nvPr/>
        </p:nvSpPr>
        <p:spPr>
          <a:xfrm>
            <a:off x="1133856" y="3794760"/>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F1BA64"/>
                </a:solidFill>
                <a:latin typeface="Aptos" pitchFamily="34" charset="0"/>
                <a:ea typeface="Aptos" pitchFamily="34" charset="-122"/>
                <a:cs typeface="Aptos" pitchFamily="34" charset="-120"/>
              </a:rPr>
              <a:t>BUSINESS VALUE</a:t>
            </a:r>
            <a:endParaRPr lang="en-US" sz="800" dirty="0"/>
          </a:p>
        </p:txBody>
      </p:sp>
      <p:sp>
        <p:nvSpPr>
          <p:cNvPr id="16" name="Text 14"/>
          <p:cNvSpPr/>
          <p:nvPr/>
        </p:nvSpPr>
        <p:spPr>
          <a:xfrm>
            <a:off x="1133856" y="4133088"/>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Less context switching; a shared, explainable release review for a team.</a:t>
            </a:r>
            <a:endParaRPr lang="en-US" sz="1300" dirty="0"/>
          </a:p>
        </p:txBody>
      </p:sp>
      <p:sp>
        <p:nvSpPr>
          <p:cNvPr id="17" name="Shape 15"/>
          <p:cNvSpPr/>
          <p:nvPr/>
        </p:nvSpPr>
        <p:spPr>
          <a:xfrm>
            <a:off x="6217920" y="3575304"/>
            <a:ext cx="5285232" cy="1280160"/>
          </a:xfrm>
          <a:prstGeom prst="roundRect">
            <a:avLst>
              <a:gd name="adj" fmla="val 8571"/>
            </a:avLst>
          </a:prstGeom>
          <a:solidFill>
            <a:srgbClr val="142735"/>
          </a:solidFill>
          <a:ln w="12700">
            <a:solidFill>
              <a:srgbClr val="142735">
                <a:alpha val="0"/>
              </a:srgbClr>
            </a:solidFill>
            <a:prstDash val="solid"/>
          </a:ln>
        </p:spPr>
      </p:sp>
      <p:sp>
        <p:nvSpPr>
          <p:cNvPr id="18" name="Shape 16"/>
          <p:cNvSpPr/>
          <p:nvPr/>
        </p:nvSpPr>
        <p:spPr>
          <a:xfrm>
            <a:off x="6419088" y="3803904"/>
            <a:ext cx="54864" cy="804672"/>
          </a:xfrm>
          <a:prstGeom prst="roundRect">
            <a:avLst>
              <a:gd name="adj" fmla="val 200000"/>
            </a:avLst>
          </a:prstGeom>
          <a:solidFill>
            <a:srgbClr val="FC777B"/>
          </a:solidFill>
          <a:ln w="12700">
            <a:solidFill>
              <a:srgbClr val="FC777B">
                <a:alpha val="0"/>
              </a:srgbClr>
            </a:solidFill>
            <a:prstDash val="solid"/>
          </a:ln>
        </p:spPr>
      </p:sp>
      <p:sp>
        <p:nvSpPr>
          <p:cNvPr id="19" name="Text 17"/>
          <p:cNvSpPr/>
          <p:nvPr/>
        </p:nvSpPr>
        <p:spPr>
          <a:xfrm>
            <a:off x="6656832" y="3794760"/>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FC777B"/>
                </a:solidFill>
                <a:latin typeface="Aptos" pitchFamily="34" charset="0"/>
                <a:ea typeface="Aptos" pitchFamily="34" charset="-122"/>
                <a:cs typeface="Aptos" pitchFamily="34" charset="-120"/>
              </a:rPr>
              <a:t>ORIGINALITY</a:t>
            </a:r>
            <a:endParaRPr lang="en-US" sz="800" dirty="0"/>
          </a:p>
        </p:txBody>
      </p:sp>
      <p:sp>
        <p:nvSpPr>
          <p:cNvPr id="20" name="Text 18"/>
          <p:cNvSpPr/>
          <p:nvPr/>
        </p:nvSpPr>
        <p:spPr>
          <a:xfrm>
            <a:off x="6656832" y="4133088"/>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A portfolio release passport tying app, country, storefront, and evidence together.</a:t>
            </a:r>
            <a:endParaRPr lang="en-US" sz="1300" dirty="0"/>
          </a:p>
        </p:txBody>
      </p:sp>
      <p:sp>
        <p:nvSpPr>
          <p:cNvPr id="21" name="Shape 19"/>
          <p:cNvSpPr/>
          <p:nvPr/>
        </p:nvSpPr>
        <p:spPr>
          <a:xfrm>
            <a:off x="694944" y="5239512"/>
            <a:ext cx="10808208" cy="603504"/>
          </a:xfrm>
          <a:prstGeom prst="roundRect">
            <a:avLst>
              <a:gd name="adj" fmla="val 18182"/>
            </a:avLst>
          </a:prstGeom>
          <a:solidFill>
            <a:srgbClr val="1A3444"/>
          </a:solidFill>
          <a:ln w="12700">
            <a:solidFill>
              <a:srgbClr val="1A3444">
                <a:alpha val="0"/>
              </a:srgbClr>
            </a:solidFill>
            <a:prstDash val="solid"/>
          </a:ln>
        </p:spPr>
      </p:sp>
      <p:sp>
        <p:nvSpPr>
          <p:cNvPr id="22" name="Text 20"/>
          <p:cNvSpPr/>
          <p:nvPr/>
        </p:nvSpPr>
        <p:spPr>
          <a:xfrm>
            <a:off x="932688" y="5449824"/>
            <a:ext cx="1481328" cy="164592"/>
          </a:xfrm>
          <a:prstGeom prst="rect">
            <a:avLst/>
          </a:prstGeom>
          <a:noFill/>
          <a:ln/>
        </p:spPr>
        <p:txBody>
          <a:bodyPr wrap="square" lIns="0" tIns="0" rIns="0" bIns="0" rtlCol="0" anchor="ctr">
            <a:normAutofit/>
          </a:bodyPr>
          <a:lstStyle/>
          <a:p>
            <a:pPr indent="0" marL="0">
              <a:buNone/>
            </a:pPr>
            <a:r>
              <a:rPr lang="en-US" sz="800" b="1" spc="100" kern="0" dirty="0">
                <a:solidFill>
                  <a:srgbClr val="F1BA64"/>
                </a:solidFill>
                <a:latin typeface="Aptos" pitchFamily="34" charset="0"/>
                <a:ea typeface="Aptos" pitchFamily="34" charset="-122"/>
                <a:cs typeface="Aptos" pitchFamily="34" charset="-120"/>
              </a:rPr>
              <a:t>BEFORE SUBMISSION</a:t>
            </a:r>
            <a:endParaRPr lang="en-US" sz="800" dirty="0"/>
          </a:p>
        </p:txBody>
      </p:sp>
      <p:sp>
        <p:nvSpPr>
          <p:cNvPr id="23" name="Text 21"/>
          <p:cNvSpPr/>
          <p:nvPr/>
        </p:nvSpPr>
        <p:spPr>
          <a:xfrm>
            <a:off x="2642616" y="5404104"/>
            <a:ext cx="8183880" cy="246888"/>
          </a:xfrm>
          <a:prstGeom prst="rect">
            <a:avLst/>
          </a:prstGeom>
          <a:noFill/>
          <a:ln/>
        </p:spPr>
        <p:txBody>
          <a:bodyPr wrap="square" lIns="0" tIns="0" rIns="0" bIns="0" rtlCol="0" anchor="ctr">
            <a:normAutofit/>
          </a:bodyPr>
          <a:lstStyle/>
          <a:p>
            <a:pPr indent="0" marL="0">
              <a:buNone/>
            </a:pPr>
            <a:r>
              <a:rPr lang="en-US" sz="1150" b="1" dirty="0">
                <a:solidFill>
                  <a:srgbClr val="F4F7F9"/>
                </a:solidFill>
                <a:latin typeface="Aptos" pitchFamily="34" charset="0"/>
                <a:ea typeface="Aptos" pitchFamily="34" charset="-122"/>
                <a:cs typeface="Aptos" pitchFamily="34" charset="-120"/>
              </a:rPr>
              <a:t>Publish MIT-scoped source  |  deploy demo  |  capture Bob sessions  |  record narrated video</a:t>
            </a:r>
            <a:endParaRPr lang="en-US" sz="115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StoreReady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StoreReady release workspace</dc:title>
  <dc:subject>IBM Bob 2.0 Hackathon submission</dc:subject>
  <dc:creator>StoreReady</dc:creator>
  <cp:lastModifiedBy>StoreReady</cp:lastModifiedBy>
  <cp:revision>1</cp:revision>
  <dcterms:created xsi:type="dcterms:W3CDTF">2026-09-25T18:27:02Z</dcterms:created>
  <dcterms:modified xsi:type="dcterms:W3CDTF">2026-09-25T18:27:02Z</dcterms:modified>
</cp:coreProperties>
</file>