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StoreReady as a portfolio release workspace. The photo on the right shows a real local market-plan screen, while the score summarizes a separate broken-fixture audit. Tests and builds were not executed by this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multi-product release problem: signals must be tied to the correct app and unknown areas must stay visible. StoreReady is not a replacement for specialist scanning or full 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switching to PocketLedger, opening Markets, searching the CLDR locale catalogue, adding India Hindi next to India English, generating English starter copy, and showing Apple as not applicable to an Android app. The 585 locales are suggestions; search phrases are not researched and drafts need native translation. Next, return to ReleaseProof demo and inspect its static security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the blocked decision, source evidence and explicit unknowns. These counts describe the current local broken fixture only. Tests and builds did not run and compliance is not certified.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Describe how the product is designed to work with IBM Bob. Do not claim an IBM Bob session happened. The current package contains task prompts and a handoff UI but lacks authentic session screenshots and usage records. Update this section after genuine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tying the working prototype to each judging dimension. The value statement is qualitative; there are no customer or productivity measurements. Before final submission, publish only the MIT-scoped additions, deploy the demo, obtain genuine IBM Bob session evidence, and record the narrated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D1B27"/>
        </a:solidFill>
      </p:bgPr>
    </p:bg>
    <p:spTree>
      <p:nvGrpSpPr>
        <p:cNvPr id="1" name=""/>
        <p:cNvGrpSpPr/>
        <p:nvPr/>
      </p:nvGrpSpPr>
      <p:grpSpPr>
        <a:xfrm>
          <a:off x="0" y="0"/>
          <a:ext cx="0" cy="0"/>
          <a:chOff x="0" y="0"/>
          <a:chExt cx="0" cy="0"/>
        </a:xfrm>
      </p:grpSpPr>
      <p:sp>
        <p:nvSpPr>
          <p:cNvPr id="2" name="Shape 0"/>
          <p:cNvSpPr/>
          <p:nvPr/>
        </p:nvSpPr>
        <p:spPr>
          <a:xfrm>
            <a:off x="502920" y="6473952"/>
            <a:ext cx="11183112" cy="0"/>
          </a:xfrm>
          <a:prstGeom prst="line">
            <a:avLst/>
          </a:prstGeom>
          <a:noFill/>
          <a:ln w="8890">
            <a:solidFill>
              <a:srgbClr val="29404E"/>
            </a:solidFill>
            <a:prstDash val="solid"/>
          </a:ln>
        </p:spPr>
      </p:sp>
      <p:sp>
        <p:nvSpPr>
          <p:cNvPr id="3" name="Text 1"/>
          <p:cNvSpPr/>
          <p:nvPr/>
        </p:nvSpPr>
        <p:spPr>
          <a:xfrm>
            <a:off x="521208" y="6537960"/>
            <a:ext cx="4114800" cy="164592"/>
          </a:xfrm>
          <a:prstGeom prst="rect">
            <a:avLst/>
          </a:prstGeom>
          <a:noFill/>
          <a:ln/>
        </p:spPr>
        <p:txBody>
          <a:bodyPr wrap="square" lIns="0" tIns="0" rIns="0" bIns="0" rtlCol="0" anchor="ctr"/>
          <a:lstStyle/>
          <a:p>
            <a:pPr indent="0" marL="0">
              <a:buNone/>
            </a:pPr>
            <a:r>
              <a:rPr lang="en-US" sz="800" spc="115" kern="0" dirty="0">
                <a:solidFill>
                  <a:srgbClr val="8CA2B1"/>
                </a:solidFill>
                <a:latin typeface="Aptos" pitchFamily="34" charset="0"/>
                <a:ea typeface="Aptos" pitchFamily="34" charset="-122"/>
                <a:cs typeface="Aptos" pitchFamily="34" charset="-120"/>
              </a:rPr>
              <a:t>RELEASEPROOF  BY  STOREREADY</a:t>
            </a:r>
            <a:endParaRPr lang="en-US" sz="800" dirty="0"/>
          </a:p>
        </p:txBody>
      </p:sp>
      <p:sp>
        <p:nvSpPr>
          <p:cNvPr id="4" name="Text 2"/>
          <p:cNvSpPr/>
          <p:nvPr/>
        </p:nvSpPr>
        <p:spPr>
          <a:xfrm>
            <a:off x="7315200" y="6537960"/>
            <a:ext cx="4352544" cy="164592"/>
          </a:xfrm>
          <a:prstGeom prst="rect">
            <a:avLst/>
          </a:prstGeom>
          <a:noFill/>
          <a:ln/>
        </p:spPr>
        <p:txBody>
          <a:bodyPr wrap="square" lIns="0" tIns="0" rIns="0" bIns="0" rtlCol="0" anchor="ctr"/>
          <a:lstStyle/>
          <a:p>
            <a:pPr algn="r" indent="0" marL="0">
              <a:buNone/>
            </a:pPr>
            <a:r>
              <a:rPr lang="en-US" sz="800" spc="60" kern="0" dirty="0">
                <a:solidFill>
                  <a:srgbClr val="8CA2B1"/>
                </a:solidFill>
                <a:latin typeface="Aptos" pitchFamily="34" charset="0"/>
                <a:ea typeface="Aptos" pitchFamily="34" charset="-122"/>
                <a:cs typeface="Aptos" pitchFamily="34" charset="-120"/>
              </a:rPr>
              <a:t>IBM BOB 2.0 HACKATHON  |  SEPTEMBER 2026</a:t>
            </a:r>
            <a:endParaRPr lang="en-US" sz="800" dirty="0"/>
          </a:p>
        </p:txBody>
      </p:sp>
      <p:sp>
        <p:nvSpPr>
          <p:cNvPr id="25" name="Slide Number Placeholder 0"/>
          <p:cNvSpPr>
            <a:spLocks noGrp="1"/>
          </p:cNvSpPr>
          <p:nvPr>
            <p:ph type="sldNum" sz="quarter" idx="4294967295"/>
          </p:nvPr>
        </p:nvSpPr>
        <p:spPr>
          <a:xfrm>
            <a:off x="11356848" y="6510528"/>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8CA2B1"/>
                </a:solidFill>
                <a:latin typeface="Aptos"/>
                <a:ea typeface="Aptos"/>
                <a:cs typeface="Aptos"/>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56848" y="6510528"/>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8CA2B1"/>
                </a:solidFill>
                <a:latin typeface="Aptos"/>
                <a:ea typeface="Aptos"/>
                <a:cs typeface="Aptos"/>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58368" y="603504"/>
            <a:ext cx="4114800" cy="237744"/>
          </a:xfrm>
          <a:prstGeom prst="rect">
            <a:avLst/>
          </a:prstGeom>
          <a:noFill/>
          <a:ln/>
        </p:spPr>
        <p:txBody>
          <a:bodyPr wrap="square" lIns="0" tIns="0" rIns="0" bIns="0" rtlCol="0" anchor="ctr">
            <a:normAutofit/>
          </a:bodyPr>
          <a:lstStyle/>
          <a:p>
            <a:pPr indent="0" marL="0">
              <a:buNone/>
            </a:pPr>
            <a:r>
              <a:rPr lang="en-US" sz="1000" b="1" spc="190" kern="0" dirty="0">
                <a:solidFill>
                  <a:srgbClr val="54D4A6"/>
                </a:solidFill>
                <a:latin typeface="Aptos" pitchFamily="34" charset="0"/>
                <a:ea typeface="Aptos" pitchFamily="34" charset="-122"/>
                <a:cs typeface="Aptos" pitchFamily="34" charset="-120"/>
              </a:rPr>
              <a:t>IBM BOB 2.0 HACKATHON</a:t>
            </a:r>
            <a:endParaRPr lang="en-US" sz="1000" dirty="0"/>
          </a:p>
        </p:txBody>
      </p:sp>
      <p:sp>
        <p:nvSpPr>
          <p:cNvPr id="3" name="Text 1"/>
          <p:cNvSpPr/>
          <p:nvPr/>
        </p:nvSpPr>
        <p:spPr>
          <a:xfrm>
            <a:off x="658368" y="1152144"/>
            <a:ext cx="4846320" cy="1005840"/>
          </a:xfrm>
          <a:prstGeom prst="rect">
            <a:avLst/>
          </a:prstGeom>
          <a:noFill/>
          <a:ln/>
        </p:spPr>
        <p:txBody>
          <a:bodyPr wrap="square" lIns="0" tIns="0" rIns="0" bIns="0" rtlCol="0" anchor="ctr">
            <a:normAutofit/>
          </a:bodyPr>
          <a:lstStyle/>
          <a:p>
            <a:pPr indent="0" marL="0">
              <a:buNone/>
            </a:pPr>
            <a:r>
              <a:rPr lang="en-US" sz="3400" b="1" dirty="0">
                <a:solidFill>
                  <a:srgbClr val="F4F7F9"/>
                </a:solidFill>
                <a:latin typeface="Aptos Display" pitchFamily="34" charset="0"/>
                <a:ea typeface="Aptos Display" pitchFamily="34" charset="-122"/>
                <a:cs typeface="Aptos Display" pitchFamily="34" charset="-120"/>
              </a:rPr>
              <a:t>Global Release</a:t>
            </a:r>
            <a:endParaRPr lang="en-US" sz="3400" dirty="0"/>
          </a:p>
          <a:p>
            <a:pPr indent="0" marL="0">
              <a:buNone/>
            </a:pPr>
            <a:r>
              <a:rPr lang="en-US" sz="3400" b="1" dirty="0">
                <a:solidFill>
                  <a:srgbClr val="F4F7F9"/>
                </a:solidFill>
                <a:latin typeface="Aptos Display" pitchFamily="34" charset="0"/>
                <a:ea typeface="Aptos Display" pitchFamily="34" charset="-122"/>
                <a:cs typeface="Aptos Display" pitchFamily="34" charset="-120"/>
              </a:rPr>
              <a:t>Passport</a:t>
            </a:r>
            <a:endParaRPr lang="en-US" sz="3400" dirty="0"/>
          </a:p>
        </p:txBody>
      </p:sp>
      <p:sp>
        <p:nvSpPr>
          <p:cNvPr id="4" name="Text 2"/>
          <p:cNvSpPr/>
          <p:nvPr/>
        </p:nvSpPr>
        <p:spPr>
          <a:xfrm>
            <a:off x="685800" y="2258568"/>
            <a:ext cx="4114800" cy="347472"/>
          </a:xfrm>
          <a:prstGeom prst="rect">
            <a:avLst/>
          </a:prstGeom>
          <a:noFill/>
          <a:ln/>
        </p:spPr>
        <p:txBody>
          <a:bodyPr wrap="square" lIns="0" tIns="0" rIns="0" bIns="0" rtlCol="0" anchor="ctr">
            <a:normAutofit/>
          </a:bodyPr>
          <a:lstStyle/>
          <a:p>
            <a:pPr indent="0" marL="0">
              <a:buNone/>
            </a:pPr>
            <a:r>
              <a:rPr lang="en-US" sz="1700" dirty="0">
                <a:solidFill>
                  <a:srgbClr val="4A91FF"/>
                </a:solidFill>
                <a:latin typeface="Aptos" pitchFamily="34" charset="0"/>
                <a:ea typeface="Aptos" pitchFamily="34" charset="-122"/>
                <a:cs typeface="Aptos" pitchFamily="34" charset="-120"/>
              </a:rPr>
              <a:t>StoreReady  /  ReleaseProof</a:t>
            </a:r>
            <a:endParaRPr lang="en-US" sz="1700" dirty="0"/>
          </a:p>
        </p:txBody>
      </p:sp>
      <p:sp>
        <p:nvSpPr>
          <p:cNvPr id="5" name="Text 3"/>
          <p:cNvSpPr/>
          <p:nvPr/>
        </p:nvSpPr>
        <p:spPr>
          <a:xfrm>
            <a:off x="685800" y="2770632"/>
            <a:ext cx="4069080" cy="1005840"/>
          </a:xfrm>
          <a:prstGeom prst="rect">
            <a:avLst/>
          </a:prstGeom>
          <a:noFill/>
          <a:ln/>
        </p:spPr>
        <p:txBody>
          <a:bodyPr wrap="square" lIns="0" tIns="0" rIns="0" bIns="0" rtlCol="0" anchor="t">
            <a:normAutofit/>
          </a:bodyPr>
          <a:lstStyle/>
          <a:p>
            <a:pPr indent="0" marL="0">
              <a:buNone/>
            </a:pPr>
            <a:r>
              <a:rPr lang="en-US" sz="2000" dirty="0">
                <a:solidFill>
                  <a:srgbClr val="B1C0C9"/>
                </a:solidFill>
                <a:latin typeface="Aptos" pitchFamily="34" charset="0"/>
                <a:ea typeface="Aptos" pitchFamily="34" charset="-122"/>
                <a:cs typeface="Aptos" pitchFamily="34" charset="-120"/>
              </a:rPr>
              <a:t>One workspace for every app in your portfolio and each market it ships into.</a:t>
            </a:r>
            <a:endParaRPr lang="en-US" sz="2000" dirty="0"/>
          </a:p>
        </p:txBody>
      </p:sp>
      <p:sp>
        <p:nvSpPr>
          <p:cNvPr id="6" name="Shape 4"/>
          <p:cNvSpPr/>
          <p:nvPr/>
        </p:nvSpPr>
        <p:spPr>
          <a:xfrm>
            <a:off x="685800" y="3977640"/>
            <a:ext cx="3474720" cy="0"/>
          </a:xfrm>
          <a:prstGeom prst="line">
            <a:avLst/>
          </a:prstGeom>
          <a:noFill/>
          <a:ln w="13970">
            <a:solidFill>
              <a:srgbClr val="29404E"/>
            </a:solidFill>
            <a:prstDash val="solid"/>
            <a:headEnd type="none"/>
            <a:tailEnd type="none"/>
          </a:ln>
        </p:spPr>
      </p:sp>
      <p:sp>
        <p:nvSpPr>
          <p:cNvPr id="7" name="Text 5"/>
          <p:cNvSpPr/>
          <p:nvPr/>
        </p:nvSpPr>
        <p:spPr>
          <a:xfrm>
            <a:off x="694944" y="4224528"/>
            <a:ext cx="3108960" cy="210312"/>
          </a:xfrm>
          <a:prstGeom prst="rect">
            <a:avLst/>
          </a:prstGeom>
          <a:noFill/>
          <a:ln/>
        </p:spPr>
        <p:txBody>
          <a:bodyPr wrap="square" lIns="0" tIns="0" rIns="0" bIns="0" rtlCol="0" anchor="ctr">
            <a:normAutofit/>
          </a:bodyPr>
          <a:lstStyle/>
          <a:p>
            <a:pPr indent="0" marL="0">
              <a:buNone/>
            </a:pPr>
            <a:r>
              <a:rPr lang="en-US" sz="900" b="1" spc="120" kern="0" dirty="0">
                <a:solidFill>
                  <a:srgbClr val="54D4A6"/>
                </a:solidFill>
                <a:latin typeface="Aptos" pitchFamily="34" charset="0"/>
                <a:ea typeface="Aptos" pitchFamily="34" charset="-122"/>
                <a:cs typeface="Aptos" pitchFamily="34" charset="-120"/>
              </a:rPr>
              <a:t>LOCAL WORKING PROTOTYPE</a:t>
            </a:r>
            <a:endParaRPr lang="en-US" sz="900" dirty="0"/>
          </a:p>
        </p:txBody>
      </p:sp>
      <p:sp>
        <p:nvSpPr>
          <p:cNvPr id="8" name="Text 6"/>
          <p:cNvSpPr/>
          <p:nvPr/>
        </p:nvSpPr>
        <p:spPr>
          <a:xfrm>
            <a:off x="694944" y="4553712"/>
            <a:ext cx="3977640" cy="603504"/>
          </a:xfrm>
          <a:prstGeom prst="rect">
            <a:avLst/>
          </a:prstGeom>
          <a:noFill/>
          <a:ln/>
        </p:spPr>
        <p:txBody>
          <a:bodyPr wrap="square" lIns="0" tIns="0" rIns="0" bIns="0" rtlCol="0" anchor="ctr">
            <a:normAutofit/>
          </a:bodyPr>
          <a:lstStyle/>
          <a:p>
            <a:pPr indent="0" marL="0">
              <a:buNone/>
            </a:pPr>
            <a:r>
              <a:rPr lang="en-US" sz="1400" dirty="0">
                <a:solidFill>
                  <a:srgbClr val="F4F7F9"/>
                </a:solidFill>
                <a:latin typeface="Aptos" pitchFamily="34" charset="0"/>
                <a:ea typeface="Aptos" pitchFamily="34" charset="-122"/>
                <a:cs typeface="Aptos" pitchFamily="34" charset="-120"/>
              </a:rPr>
              <a:t>Evidence first. Human review at every fix.</a:t>
            </a:r>
            <a:endParaRPr lang="en-US" sz="1400" dirty="0"/>
          </a:p>
        </p:txBody>
      </p:sp>
      <p:sp>
        <p:nvSpPr>
          <p:cNvPr id="9" name="Shape 7"/>
          <p:cNvSpPr/>
          <p:nvPr/>
        </p:nvSpPr>
        <p:spPr>
          <a:xfrm>
            <a:off x="7360920" y="694944"/>
            <a:ext cx="4169664" cy="5193792"/>
          </a:xfrm>
          <a:prstGeom prst="roundRect">
            <a:avLst>
              <a:gd name="adj" fmla="val 3070"/>
            </a:avLst>
          </a:prstGeom>
          <a:solidFill>
            <a:srgbClr val="142735"/>
          </a:solidFill>
          <a:ln w="12700">
            <a:solidFill>
              <a:srgbClr val="142735">
                <a:alpha val="0"/>
              </a:srgbClr>
            </a:solidFill>
            <a:prstDash val="solid"/>
          </a:ln>
        </p:spPr>
      </p:sp>
      <p:pic>
        <p:nvPicPr>
          <p:cNvPr id="10" name="Image 0" descr="C:/Users/saini/Documents/Codex/2026-09-25/yep-for-the-ibm-bob-2/work/play-store-ready-vibe-coded-apps/docs/hackathon/market-workspace.jpg">    </p:cNvPr>
          <p:cNvPicPr>
            <a:picLocks noChangeAspect="1"/>
          </p:cNvPicPr>
          <p:nvPr/>
        </p:nvPicPr>
        <p:blipFill>
          <a:blip r:embed="rId1"/>
          <a:stretch>
            <a:fillRect/>
          </a:stretch>
        </p:blipFill>
        <p:spPr>
          <a:xfrm>
            <a:off x="7452360" y="804672"/>
            <a:ext cx="3986784" cy="2660904"/>
          </a:xfrm>
          <a:prstGeom prst="rect">
            <a:avLst/>
          </a:prstGeom>
        </p:spPr>
      </p:pic>
      <p:sp>
        <p:nvSpPr>
          <p:cNvPr id="11" name="Text 8"/>
          <p:cNvSpPr/>
          <p:nvPr/>
        </p:nvSpPr>
        <p:spPr>
          <a:xfrm>
            <a:off x="7543800" y="3675888"/>
            <a:ext cx="2377440" cy="228600"/>
          </a:xfrm>
          <a:prstGeom prst="rect">
            <a:avLst/>
          </a:prstGeom>
          <a:noFill/>
          <a:ln/>
        </p:spPr>
        <p:txBody>
          <a:bodyPr wrap="square" lIns="0" tIns="0" rIns="0" bIns="0" rtlCol="0" anchor="ctr">
            <a:normAutofit/>
          </a:bodyPr>
          <a:lstStyle/>
          <a:p>
            <a:pPr indent="0" marL="0">
              <a:buNone/>
            </a:pPr>
            <a:r>
              <a:rPr lang="en-US" sz="900" b="1" spc="125" kern="0" dirty="0">
                <a:solidFill>
                  <a:srgbClr val="FC777B"/>
                </a:solidFill>
                <a:latin typeface="Aptos" pitchFamily="34" charset="0"/>
                <a:ea typeface="Aptos" pitchFamily="34" charset="-122"/>
                <a:cs typeface="Aptos" pitchFamily="34" charset="-120"/>
              </a:rPr>
              <a:t>RELEASE BLOCKED</a:t>
            </a:r>
            <a:endParaRPr lang="en-US" sz="900" dirty="0"/>
          </a:p>
        </p:txBody>
      </p:sp>
      <p:sp>
        <p:nvSpPr>
          <p:cNvPr id="12" name="Text 9"/>
          <p:cNvSpPr/>
          <p:nvPr/>
        </p:nvSpPr>
        <p:spPr>
          <a:xfrm>
            <a:off x="7525512" y="4041648"/>
            <a:ext cx="1170432" cy="676656"/>
          </a:xfrm>
          <a:prstGeom prst="rect">
            <a:avLst/>
          </a:prstGeom>
          <a:noFill/>
          <a:ln/>
        </p:spPr>
        <p:txBody>
          <a:bodyPr wrap="square" lIns="0" tIns="0" rIns="0" bIns="0" rtlCol="0" anchor="ctr">
            <a:normAutofit/>
          </a:bodyPr>
          <a:lstStyle/>
          <a:p>
            <a:pPr indent="0" marL="0">
              <a:buNone/>
            </a:pPr>
            <a:r>
              <a:rPr lang="en-US" sz="3800" b="1" dirty="0">
                <a:solidFill>
                  <a:srgbClr val="F4F7F9"/>
                </a:solidFill>
                <a:latin typeface="Aptos Display" pitchFamily="34" charset="0"/>
                <a:ea typeface="Aptos Display" pitchFamily="34" charset="-122"/>
                <a:cs typeface="Aptos Display" pitchFamily="34" charset="-120"/>
              </a:rPr>
              <a:t>43</a:t>
            </a:r>
            <a:endParaRPr lang="en-US" sz="3800" dirty="0"/>
          </a:p>
        </p:txBody>
      </p:sp>
      <p:sp>
        <p:nvSpPr>
          <p:cNvPr id="13" name="Text 10"/>
          <p:cNvSpPr/>
          <p:nvPr/>
        </p:nvSpPr>
        <p:spPr>
          <a:xfrm>
            <a:off x="8577072" y="4398264"/>
            <a:ext cx="731520" cy="219456"/>
          </a:xfrm>
          <a:prstGeom prst="rect">
            <a:avLst/>
          </a:prstGeom>
          <a:noFill/>
          <a:ln/>
        </p:spPr>
        <p:txBody>
          <a:bodyPr wrap="square" lIns="0" tIns="0" rIns="0" bIns="0" rtlCol="0" anchor="ctr">
            <a:normAutofit/>
          </a:bodyPr>
          <a:lstStyle/>
          <a:p>
            <a:pPr indent="0" marL="0">
              <a:buNone/>
            </a:pPr>
            <a:r>
              <a:rPr lang="en-US" sz="1100" dirty="0">
                <a:solidFill>
                  <a:srgbClr val="B1C0C9"/>
                </a:solidFill>
                <a:latin typeface="Aptos" pitchFamily="34" charset="0"/>
                <a:ea typeface="Aptos" pitchFamily="34" charset="-122"/>
                <a:cs typeface="Aptos" pitchFamily="34" charset="-120"/>
              </a:rPr>
              <a:t>/ 100</a:t>
            </a:r>
            <a:endParaRPr lang="en-US" sz="1100" dirty="0"/>
          </a:p>
        </p:txBody>
      </p:sp>
      <p:sp>
        <p:nvSpPr>
          <p:cNvPr id="14" name="Text 11"/>
          <p:cNvSpPr/>
          <p:nvPr/>
        </p:nvSpPr>
        <p:spPr>
          <a:xfrm>
            <a:off x="9281160" y="4197096"/>
            <a:ext cx="1901952" cy="274320"/>
          </a:xfrm>
          <a:prstGeom prst="rect">
            <a:avLst/>
          </a:prstGeom>
          <a:noFill/>
          <a:ln/>
        </p:spPr>
        <p:txBody>
          <a:bodyPr wrap="square" lIns="0" tIns="0" rIns="0" bIns="0" rtlCol="0" anchor="ctr">
            <a:normAutofit/>
          </a:bodyPr>
          <a:lstStyle/>
          <a:p>
            <a:pPr indent="0" marL="0">
              <a:buNone/>
            </a:pPr>
            <a:r>
              <a:rPr lang="en-US" sz="1200" b="1" dirty="0">
                <a:solidFill>
                  <a:srgbClr val="F4F7F9"/>
                </a:solidFill>
                <a:latin typeface="Aptos" pitchFamily="34" charset="0"/>
                <a:ea typeface="Aptos" pitchFamily="34" charset="-122"/>
                <a:cs typeface="Aptos" pitchFamily="34" charset="-120"/>
              </a:rPr>
              <a:t>2 blockers  |  3 warnings</a:t>
            </a:r>
            <a:endParaRPr lang="en-US" sz="1200" dirty="0"/>
          </a:p>
        </p:txBody>
      </p:sp>
      <p:sp>
        <p:nvSpPr>
          <p:cNvPr id="15" name="Text 12"/>
          <p:cNvSpPr/>
          <p:nvPr/>
        </p:nvSpPr>
        <p:spPr>
          <a:xfrm>
            <a:off x="7543800" y="5010912"/>
            <a:ext cx="3566160" cy="502920"/>
          </a:xfrm>
          <a:prstGeom prst="rect">
            <a:avLst/>
          </a:prstGeom>
          <a:noFill/>
          <a:ln/>
        </p:spPr>
        <p:txBody>
          <a:bodyPr wrap="square" lIns="0" tIns="0" rIns="0" bIns="0" rtlCol="0" anchor="t">
            <a:normAutofit/>
          </a:bodyPr>
          <a:lstStyle/>
          <a:p>
            <a:pPr indent="0" marL="0">
              <a:buNone/>
            </a:pPr>
            <a:r>
              <a:rPr lang="en-US" sz="1000" dirty="0">
                <a:solidFill>
                  <a:srgbClr val="B1C0C9"/>
                </a:solidFill>
                <a:latin typeface="Aptos" pitchFamily="34" charset="0"/>
                <a:ea typeface="Aptos" pitchFamily="34" charset="-122"/>
                <a:cs typeface="Aptos" pitchFamily="34" charset="-120"/>
              </a:rPr>
              <a:t>This score belongs only to the deliberately broken local fixture. Other apps remain unaudited.</a:t>
            </a:r>
            <a:endParaRPr lang="en-US" sz="1000" dirty="0"/>
          </a:p>
        </p:txBody>
      </p:sp>
      <p:sp>
        <p:nvSpPr>
          <p:cNvPr id="25" name="Slide Number Placeholder 0"/>
          <p:cNvSpPr>
            <a:spLocks noGrp="1"/>
          </p:cNvSpPr>
          <p:nvPr>
            <p:ph type="sldNum" sz="quarter" idx="4294967295"/>
          </p:nvPr>
        </p:nvSpPr>
        <p:spPr>
          <a:xfrm>
            <a:off x="11356848" y="6510528"/>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8CA2B1"/>
                </a:solidFill>
                <a:latin typeface="Aptos"/>
                <a:ea typeface="Aptos"/>
                <a:cs typeface="Aptos"/>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94360" y="347472"/>
            <a:ext cx="4572000" cy="201168"/>
          </a:xfrm>
          <a:prstGeom prst="rect">
            <a:avLst/>
          </a:prstGeom>
          <a:noFill/>
          <a:ln/>
        </p:spPr>
        <p:txBody>
          <a:bodyPr wrap="square" lIns="0" tIns="0" rIns="0" bIns="0" rtlCol="0" anchor="ctr">
            <a:normAutofit/>
          </a:bodyPr>
          <a:lstStyle/>
          <a:p>
            <a:pPr indent="0" marL="0">
              <a:buNone/>
            </a:pPr>
            <a:r>
              <a:rPr lang="en-US" sz="900" b="1" spc="180" kern="0" dirty="0">
                <a:solidFill>
                  <a:srgbClr val="54D4A6"/>
                </a:solidFill>
                <a:latin typeface="Aptos" pitchFamily="34" charset="0"/>
                <a:ea typeface="Aptos" pitchFamily="34" charset="-122"/>
                <a:cs typeface="Aptos" pitchFamily="34" charset="-120"/>
              </a:rPr>
              <a:t>THE PROBLEM</a:t>
            </a:r>
            <a:endParaRPr lang="en-US" sz="900" dirty="0"/>
          </a:p>
        </p:txBody>
      </p:sp>
      <p:sp>
        <p:nvSpPr>
          <p:cNvPr id="3" name="Text 1"/>
          <p:cNvSpPr/>
          <p:nvPr/>
        </p:nvSpPr>
        <p:spPr>
          <a:xfrm>
            <a:off x="594360" y="713232"/>
            <a:ext cx="10972800" cy="548640"/>
          </a:xfrm>
          <a:prstGeom prst="rect">
            <a:avLst/>
          </a:prstGeom>
          <a:noFill/>
          <a:ln/>
        </p:spPr>
        <p:txBody>
          <a:bodyPr wrap="square" lIns="0" tIns="0" rIns="0" bIns="0" rtlCol="0" anchor="ctr">
            <a:normAutofit/>
          </a:bodyPr>
          <a:lstStyle/>
          <a:p>
            <a:pPr indent="0" marL="0">
              <a:buNone/>
            </a:pPr>
            <a:r>
              <a:rPr lang="en-US" sz="2800" b="1" dirty="0">
                <a:solidFill>
                  <a:srgbClr val="F4F7F9"/>
                </a:solidFill>
                <a:latin typeface="Aptos Display" pitchFamily="34" charset="0"/>
                <a:ea typeface="Aptos Display" pitchFamily="34" charset="-122"/>
                <a:cs typeface="Aptos Display" pitchFamily="34" charset="-120"/>
              </a:rPr>
              <a:t>Release checks are fragmented</a:t>
            </a:r>
            <a:endParaRPr lang="en-US" sz="2800" dirty="0"/>
          </a:p>
        </p:txBody>
      </p:sp>
      <p:sp>
        <p:nvSpPr>
          <p:cNvPr id="4" name="Text 2"/>
          <p:cNvSpPr/>
          <p:nvPr/>
        </p:nvSpPr>
        <p:spPr>
          <a:xfrm>
            <a:off x="612648" y="1325880"/>
            <a:ext cx="10607040" cy="384048"/>
          </a:xfrm>
          <a:prstGeom prst="rect">
            <a:avLst/>
          </a:prstGeom>
          <a:noFill/>
          <a:ln/>
        </p:spPr>
        <p:txBody>
          <a:bodyPr wrap="square" lIns="0" tIns="0" rIns="0" bIns="0" rtlCol="0" anchor="ctr">
            <a:normAutofit/>
          </a:bodyPr>
          <a:lstStyle/>
          <a:p>
            <a:pPr indent="0" marL="0">
              <a:buNone/>
            </a:pPr>
            <a:r>
              <a:rPr lang="en-US" sz="1300" dirty="0">
                <a:solidFill>
                  <a:srgbClr val="B1C0C9"/>
                </a:solidFill>
                <a:latin typeface="Aptos" pitchFamily="34" charset="0"/>
                <a:ea typeface="Aptos" pitchFamily="34" charset="-122"/>
                <a:cs typeface="Aptos" pitchFamily="34" charset="-120"/>
              </a:rPr>
              <a:t>A green signal is hard to trust when tools cover different parts of the repository.</a:t>
            </a:r>
            <a:endParaRPr lang="en-US" sz="1300" dirty="0"/>
          </a:p>
        </p:txBody>
      </p:sp>
      <p:sp>
        <p:nvSpPr>
          <p:cNvPr id="5" name="Shape 3"/>
          <p:cNvSpPr/>
          <p:nvPr/>
        </p:nvSpPr>
        <p:spPr>
          <a:xfrm>
            <a:off x="621792" y="2084832"/>
            <a:ext cx="3447288" cy="2514600"/>
          </a:xfrm>
          <a:prstGeom prst="roundRect">
            <a:avLst>
              <a:gd name="adj" fmla="val 4364"/>
            </a:avLst>
          </a:prstGeom>
          <a:solidFill>
            <a:srgbClr val="142735"/>
          </a:solidFill>
          <a:ln w="12700">
            <a:solidFill>
              <a:srgbClr val="142735">
                <a:alpha val="0"/>
              </a:srgbClr>
            </a:solidFill>
            <a:prstDash val="solid"/>
          </a:ln>
        </p:spPr>
      </p:sp>
      <p:sp>
        <p:nvSpPr>
          <p:cNvPr id="6" name="Shape 4"/>
          <p:cNvSpPr/>
          <p:nvPr/>
        </p:nvSpPr>
        <p:spPr>
          <a:xfrm>
            <a:off x="621792" y="2084832"/>
            <a:ext cx="50292" cy="2514600"/>
          </a:xfrm>
          <a:prstGeom prst="roundRect">
            <a:avLst>
              <a:gd name="adj" fmla="val 218182"/>
            </a:avLst>
          </a:prstGeom>
          <a:solidFill>
            <a:srgbClr val="4A91FF"/>
          </a:solidFill>
          <a:ln w="12700">
            <a:solidFill>
              <a:srgbClr val="4A91FF">
                <a:alpha val="0"/>
              </a:srgbClr>
            </a:solidFill>
            <a:prstDash val="solid"/>
          </a:ln>
        </p:spPr>
      </p:sp>
      <p:sp>
        <p:nvSpPr>
          <p:cNvPr id="7" name="Text 5"/>
          <p:cNvSpPr/>
          <p:nvPr/>
        </p:nvSpPr>
        <p:spPr>
          <a:xfrm>
            <a:off x="832104" y="2258568"/>
            <a:ext cx="3035808" cy="201168"/>
          </a:xfrm>
          <a:prstGeom prst="rect">
            <a:avLst/>
          </a:prstGeom>
          <a:noFill/>
          <a:ln/>
        </p:spPr>
        <p:txBody>
          <a:bodyPr wrap="square" lIns="0" tIns="0" rIns="0" bIns="0" rtlCol="0" anchor="ctr">
            <a:normAutofit/>
          </a:bodyPr>
          <a:lstStyle/>
          <a:p>
            <a:pPr indent="0" marL="0">
              <a:buNone/>
            </a:pPr>
            <a:r>
              <a:rPr lang="en-US" sz="800" b="1" spc="100" kern="0" dirty="0">
                <a:solidFill>
                  <a:srgbClr val="4A91FF"/>
                </a:solidFill>
                <a:latin typeface="Aptos" pitchFamily="34" charset="0"/>
                <a:ea typeface="Aptos" pitchFamily="34" charset="-122"/>
                <a:cs typeface="Aptos" pitchFamily="34" charset="-120"/>
              </a:rPr>
              <a:t>01  /  SCATTERED SIGNALS</a:t>
            </a:r>
            <a:endParaRPr lang="en-US" sz="800" dirty="0"/>
          </a:p>
        </p:txBody>
      </p:sp>
      <p:sp>
        <p:nvSpPr>
          <p:cNvPr id="8" name="Text 6"/>
          <p:cNvSpPr/>
          <p:nvPr/>
        </p:nvSpPr>
        <p:spPr>
          <a:xfrm>
            <a:off x="832104" y="2587752"/>
            <a:ext cx="3035808" cy="457200"/>
          </a:xfrm>
          <a:prstGeom prst="rect">
            <a:avLst/>
          </a:prstGeom>
          <a:noFill/>
          <a:ln/>
        </p:spPr>
        <p:txBody>
          <a:bodyPr wrap="square" lIns="0" tIns="0" rIns="0" bIns="0" rtlCol="0" anchor="ctr">
            <a:normAutofit/>
          </a:bodyPr>
          <a:lstStyle/>
          <a:p>
            <a:pPr indent="0" marL="0">
              <a:buNone/>
            </a:pPr>
            <a:r>
              <a:rPr lang="en-US" sz="1800" b="1" dirty="0">
                <a:solidFill>
                  <a:srgbClr val="F4F7F9"/>
                </a:solidFill>
                <a:latin typeface="Aptos Display" pitchFamily="34" charset="0"/>
                <a:ea typeface="Aptos Display" pitchFamily="34" charset="-122"/>
                <a:cs typeface="Aptos Display" pitchFamily="34" charset="-120"/>
              </a:rPr>
              <a:t>Many check surfaces</a:t>
            </a:r>
            <a:endParaRPr lang="en-US" sz="1800" dirty="0"/>
          </a:p>
        </p:txBody>
      </p:sp>
      <p:sp>
        <p:nvSpPr>
          <p:cNvPr id="9" name="Text 7"/>
          <p:cNvSpPr/>
          <p:nvPr/>
        </p:nvSpPr>
        <p:spPr>
          <a:xfrm>
            <a:off x="832104" y="3163824"/>
            <a:ext cx="3035808" cy="1252728"/>
          </a:xfrm>
          <a:prstGeom prst="rect">
            <a:avLst/>
          </a:prstGeom>
          <a:noFill/>
          <a:ln/>
        </p:spPr>
        <p:txBody>
          <a:bodyPr wrap="square" lIns="0" tIns="0" rIns="0" bIns="0" rtlCol="0" anchor="t">
            <a:normAutofit/>
          </a:bodyPr>
          <a:lstStyle/>
          <a:p>
            <a:pPr indent="0" marL="0">
              <a:lnSpc>
                <a:spcPct val="105000"/>
              </a:lnSpc>
              <a:buNone/>
            </a:pPr>
            <a:r>
              <a:rPr lang="en-US" sz="1150" dirty="0">
                <a:solidFill>
                  <a:srgbClr val="B1C0C9"/>
                </a:solidFill>
                <a:latin typeface="Aptos" pitchFamily="34" charset="0"/>
                <a:ea typeface="Aptos" pitchFamily="34" charset="-122"/>
                <a:cs typeface="Aptos" pitchFamily="34" charset="-120"/>
              </a:rPr>
              <a:t>Security, dependencies, tests, builds, CI, deployment, docs and licensing each leave a different trail.</a:t>
            </a:r>
            <a:endParaRPr lang="en-US" sz="1150" dirty="0"/>
          </a:p>
        </p:txBody>
      </p:sp>
      <p:sp>
        <p:nvSpPr>
          <p:cNvPr id="10" name="Shape 8"/>
          <p:cNvSpPr/>
          <p:nvPr/>
        </p:nvSpPr>
        <p:spPr>
          <a:xfrm>
            <a:off x="4361688" y="2084832"/>
            <a:ext cx="3447288" cy="2514600"/>
          </a:xfrm>
          <a:prstGeom prst="roundRect">
            <a:avLst>
              <a:gd name="adj" fmla="val 4364"/>
            </a:avLst>
          </a:prstGeom>
          <a:solidFill>
            <a:srgbClr val="142735"/>
          </a:solidFill>
          <a:ln w="12700">
            <a:solidFill>
              <a:srgbClr val="142735">
                <a:alpha val="0"/>
              </a:srgbClr>
            </a:solidFill>
            <a:prstDash val="solid"/>
          </a:ln>
        </p:spPr>
      </p:sp>
      <p:sp>
        <p:nvSpPr>
          <p:cNvPr id="11" name="Shape 9"/>
          <p:cNvSpPr/>
          <p:nvPr/>
        </p:nvSpPr>
        <p:spPr>
          <a:xfrm>
            <a:off x="4361688" y="2084832"/>
            <a:ext cx="50292" cy="2514600"/>
          </a:xfrm>
          <a:prstGeom prst="roundRect">
            <a:avLst>
              <a:gd name="adj" fmla="val 218182"/>
            </a:avLst>
          </a:prstGeom>
          <a:solidFill>
            <a:srgbClr val="F1BA64"/>
          </a:solidFill>
          <a:ln w="12700">
            <a:solidFill>
              <a:srgbClr val="F1BA64">
                <a:alpha val="0"/>
              </a:srgbClr>
            </a:solidFill>
            <a:prstDash val="solid"/>
          </a:ln>
        </p:spPr>
      </p:sp>
      <p:sp>
        <p:nvSpPr>
          <p:cNvPr id="12" name="Text 10"/>
          <p:cNvSpPr/>
          <p:nvPr/>
        </p:nvSpPr>
        <p:spPr>
          <a:xfrm>
            <a:off x="4572000" y="2258568"/>
            <a:ext cx="3035808" cy="201168"/>
          </a:xfrm>
          <a:prstGeom prst="rect">
            <a:avLst/>
          </a:prstGeom>
          <a:noFill/>
          <a:ln/>
        </p:spPr>
        <p:txBody>
          <a:bodyPr wrap="square" lIns="0" tIns="0" rIns="0" bIns="0" rtlCol="0" anchor="ctr">
            <a:normAutofit/>
          </a:bodyPr>
          <a:lstStyle/>
          <a:p>
            <a:pPr indent="0" marL="0">
              <a:buNone/>
            </a:pPr>
            <a:r>
              <a:rPr lang="en-US" sz="800" b="1" spc="100" kern="0" dirty="0">
                <a:solidFill>
                  <a:srgbClr val="F1BA64"/>
                </a:solidFill>
                <a:latin typeface="Aptos" pitchFamily="34" charset="0"/>
                <a:ea typeface="Aptos" pitchFamily="34" charset="-122"/>
                <a:cs typeface="Aptos" pitchFamily="34" charset="-120"/>
              </a:rPr>
              <a:t>02  /  HIDDEN UNKNOWNS</a:t>
            </a:r>
            <a:endParaRPr lang="en-US" sz="800" dirty="0"/>
          </a:p>
        </p:txBody>
      </p:sp>
      <p:sp>
        <p:nvSpPr>
          <p:cNvPr id="13" name="Text 11"/>
          <p:cNvSpPr/>
          <p:nvPr/>
        </p:nvSpPr>
        <p:spPr>
          <a:xfrm>
            <a:off x="4572000" y="2587752"/>
            <a:ext cx="3035808" cy="457200"/>
          </a:xfrm>
          <a:prstGeom prst="rect">
            <a:avLst/>
          </a:prstGeom>
          <a:noFill/>
          <a:ln/>
        </p:spPr>
        <p:txBody>
          <a:bodyPr wrap="square" lIns="0" tIns="0" rIns="0" bIns="0" rtlCol="0" anchor="ctr">
            <a:normAutofit/>
          </a:bodyPr>
          <a:lstStyle/>
          <a:p>
            <a:pPr indent="0" marL="0">
              <a:buNone/>
            </a:pPr>
            <a:r>
              <a:rPr lang="en-US" sz="1800" b="1" dirty="0">
                <a:solidFill>
                  <a:srgbClr val="F4F7F9"/>
                </a:solidFill>
                <a:latin typeface="Aptos Display" pitchFamily="34" charset="0"/>
                <a:ea typeface="Aptos Display" pitchFamily="34" charset="-122"/>
                <a:cs typeface="Aptos Display" pitchFamily="34" charset="-120"/>
              </a:rPr>
              <a:t>Gaps resemble passes</a:t>
            </a:r>
            <a:endParaRPr lang="en-US" sz="1800" dirty="0"/>
          </a:p>
        </p:txBody>
      </p:sp>
      <p:sp>
        <p:nvSpPr>
          <p:cNvPr id="14" name="Text 12"/>
          <p:cNvSpPr/>
          <p:nvPr/>
        </p:nvSpPr>
        <p:spPr>
          <a:xfrm>
            <a:off x="4572000" y="3163824"/>
            <a:ext cx="3035808" cy="1252728"/>
          </a:xfrm>
          <a:prstGeom prst="rect">
            <a:avLst/>
          </a:prstGeom>
          <a:noFill/>
          <a:ln/>
        </p:spPr>
        <p:txBody>
          <a:bodyPr wrap="square" lIns="0" tIns="0" rIns="0" bIns="0" rtlCol="0" anchor="t">
            <a:normAutofit/>
          </a:bodyPr>
          <a:lstStyle/>
          <a:p>
            <a:pPr indent="0" marL="0">
              <a:lnSpc>
                <a:spcPct val="105000"/>
              </a:lnSpc>
              <a:buNone/>
            </a:pPr>
            <a:r>
              <a:rPr lang="en-US" sz="1150" dirty="0">
                <a:solidFill>
                  <a:srgbClr val="B1C0C9"/>
                </a:solidFill>
                <a:latin typeface="Aptos" pitchFamily="34" charset="0"/>
                <a:ea typeface="Aptos" pitchFamily="34" charset="-122"/>
                <a:cs typeface="Aptos" pitchFamily="34" charset="-120"/>
              </a:rPr>
              <a:t>Unavailable or unconfigured checks can be overlooked when results lack a shared status model.</a:t>
            </a:r>
            <a:endParaRPr lang="en-US" sz="1150" dirty="0"/>
          </a:p>
        </p:txBody>
      </p:sp>
      <p:sp>
        <p:nvSpPr>
          <p:cNvPr id="15" name="Shape 13"/>
          <p:cNvSpPr/>
          <p:nvPr/>
        </p:nvSpPr>
        <p:spPr>
          <a:xfrm>
            <a:off x="8101584" y="2084832"/>
            <a:ext cx="3447288" cy="2514600"/>
          </a:xfrm>
          <a:prstGeom prst="roundRect">
            <a:avLst>
              <a:gd name="adj" fmla="val 4364"/>
            </a:avLst>
          </a:prstGeom>
          <a:solidFill>
            <a:srgbClr val="142735"/>
          </a:solidFill>
          <a:ln w="12700">
            <a:solidFill>
              <a:srgbClr val="142735">
                <a:alpha val="0"/>
              </a:srgbClr>
            </a:solidFill>
            <a:prstDash val="solid"/>
          </a:ln>
        </p:spPr>
      </p:sp>
      <p:sp>
        <p:nvSpPr>
          <p:cNvPr id="16" name="Shape 14"/>
          <p:cNvSpPr/>
          <p:nvPr/>
        </p:nvSpPr>
        <p:spPr>
          <a:xfrm>
            <a:off x="8101584" y="2084832"/>
            <a:ext cx="50292" cy="2514600"/>
          </a:xfrm>
          <a:prstGeom prst="roundRect">
            <a:avLst>
              <a:gd name="adj" fmla="val 218182"/>
            </a:avLst>
          </a:prstGeom>
          <a:solidFill>
            <a:srgbClr val="FC777B"/>
          </a:solidFill>
          <a:ln w="12700">
            <a:solidFill>
              <a:srgbClr val="FC777B">
                <a:alpha val="0"/>
              </a:srgbClr>
            </a:solidFill>
            <a:prstDash val="solid"/>
          </a:ln>
        </p:spPr>
      </p:sp>
      <p:sp>
        <p:nvSpPr>
          <p:cNvPr id="17" name="Text 15"/>
          <p:cNvSpPr/>
          <p:nvPr/>
        </p:nvSpPr>
        <p:spPr>
          <a:xfrm>
            <a:off x="8311896" y="2258568"/>
            <a:ext cx="3035808" cy="201168"/>
          </a:xfrm>
          <a:prstGeom prst="rect">
            <a:avLst/>
          </a:prstGeom>
          <a:noFill/>
          <a:ln/>
        </p:spPr>
        <p:txBody>
          <a:bodyPr wrap="square" lIns="0" tIns="0" rIns="0" bIns="0" rtlCol="0" anchor="ctr">
            <a:normAutofit/>
          </a:bodyPr>
          <a:lstStyle/>
          <a:p>
            <a:pPr indent="0" marL="0">
              <a:buNone/>
            </a:pPr>
            <a:r>
              <a:rPr lang="en-US" sz="800" b="1" spc="100" kern="0" dirty="0">
                <a:solidFill>
                  <a:srgbClr val="FC777B"/>
                </a:solidFill>
                <a:latin typeface="Aptos" pitchFamily="34" charset="0"/>
                <a:ea typeface="Aptos" pitchFamily="34" charset="-122"/>
                <a:cs typeface="Aptos" pitchFamily="34" charset="-120"/>
              </a:rPr>
              <a:t>03  /  COSTLY HANDOFFS</a:t>
            </a:r>
            <a:endParaRPr lang="en-US" sz="800" dirty="0"/>
          </a:p>
        </p:txBody>
      </p:sp>
      <p:sp>
        <p:nvSpPr>
          <p:cNvPr id="18" name="Text 16"/>
          <p:cNvSpPr/>
          <p:nvPr/>
        </p:nvSpPr>
        <p:spPr>
          <a:xfrm>
            <a:off x="8311896" y="2587752"/>
            <a:ext cx="3035808" cy="457200"/>
          </a:xfrm>
          <a:prstGeom prst="rect">
            <a:avLst/>
          </a:prstGeom>
          <a:noFill/>
          <a:ln/>
        </p:spPr>
        <p:txBody>
          <a:bodyPr wrap="square" lIns="0" tIns="0" rIns="0" bIns="0" rtlCol="0" anchor="ctr">
            <a:normAutofit/>
          </a:bodyPr>
          <a:lstStyle/>
          <a:p>
            <a:pPr indent="0" marL="0">
              <a:buNone/>
            </a:pPr>
            <a:r>
              <a:rPr lang="en-US" sz="1800" b="1" dirty="0">
                <a:solidFill>
                  <a:srgbClr val="F4F7F9"/>
                </a:solidFill>
                <a:latin typeface="Aptos Display" pitchFamily="34" charset="0"/>
                <a:ea typeface="Aptos Display" pitchFamily="34" charset="-122"/>
                <a:cs typeface="Aptos Display" pitchFamily="34" charset="-120"/>
              </a:rPr>
              <a:t>Advice lacks context</a:t>
            </a:r>
            <a:endParaRPr lang="en-US" sz="1800" dirty="0"/>
          </a:p>
        </p:txBody>
      </p:sp>
      <p:sp>
        <p:nvSpPr>
          <p:cNvPr id="19" name="Text 17"/>
          <p:cNvSpPr/>
          <p:nvPr/>
        </p:nvSpPr>
        <p:spPr>
          <a:xfrm>
            <a:off x="8311896" y="3163824"/>
            <a:ext cx="3035808" cy="1252728"/>
          </a:xfrm>
          <a:prstGeom prst="rect">
            <a:avLst/>
          </a:prstGeom>
          <a:noFill/>
          <a:ln/>
        </p:spPr>
        <p:txBody>
          <a:bodyPr wrap="square" lIns="0" tIns="0" rIns="0" bIns="0" rtlCol="0" anchor="t">
            <a:normAutofit/>
          </a:bodyPr>
          <a:lstStyle/>
          <a:p>
            <a:pPr indent="0" marL="0">
              <a:lnSpc>
                <a:spcPct val="105000"/>
              </a:lnSpc>
              <a:buNone/>
            </a:pPr>
            <a:r>
              <a:rPr lang="en-US" sz="1150" dirty="0">
                <a:solidFill>
                  <a:srgbClr val="B1C0C9"/>
                </a:solidFill>
                <a:latin typeface="Aptos" pitchFamily="34" charset="0"/>
                <a:ea typeface="Aptos" pitchFamily="34" charset="-122"/>
                <a:cs typeface="Aptos" pitchFamily="34" charset="-120"/>
              </a:rPr>
              <a:t>Teams still need the file, rule, evidence and verification step to make a safe change.</a:t>
            </a:r>
            <a:endParaRPr lang="en-US" sz="1150" dirty="0"/>
          </a:p>
        </p:txBody>
      </p:sp>
      <p:sp>
        <p:nvSpPr>
          <p:cNvPr id="20" name="Shape 18"/>
          <p:cNvSpPr/>
          <p:nvPr/>
        </p:nvSpPr>
        <p:spPr>
          <a:xfrm>
            <a:off x="621792" y="5074920"/>
            <a:ext cx="10927080" cy="749808"/>
          </a:xfrm>
          <a:prstGeom prst="roundRect">
            <a:avLst>
              <a:gd name="adj" fmla="val 14634"/>
            </a:avLst>
          </a:prstGeom>
          <a:solidFill>
            <a:srgbClr val="1A3444"/>
          </a:solidFill>
          <a:ln w="12700">
            <a:solidFill>
              <a:srgbClr val="1A3444">
                <a:alpha val="0"/>
              </a:srgbClr>
            </a:solidFill>
            <a:prstDash val="solid"/>
          </a:ln>
        </p:spPr>
      </p:sp>
      <p:sp>
        <p:nvSpPr>
          <p:cNvPr id="21" name="Text 19"/>
          <p:cNvSpPr/>
          <p:nvPr/>
        </p:nvSpPr>
        <p:spPr>
          <a:xfrm>
            <a:off x="868680" y="5285232"/>
            <a:ext cx="1600200" cy="201168"/>
          </a:xfrm>
          <a:prstGeom prst="rect">
            <a:avLst/>
          </a:prstGeom>
          <a:noFill/>
          <a:ln/>
        </p:spPr>
        <p:txBody>
          <a:bodyPr wrap="square" lIns="0" tIns="0" rIns="0" bIns="0" rtlCol="0" anchor="ctr">
            <a:normAutofit/>
          </a:bodyPr>
          <a:lstStyle/>
          <a:p>
            <a:pPr indent="0" marL="0">
              <a:buNone/>
            </a:pPr>
            <a:r>
              <a:rPr lang="en-US" sz="900" b="1" spc="120" kern="0" dirty="0">
                <a:solidFill>
                  <a:srgbClr val="54D4A6"/>
                </a:solidFill>
                <a:latin typeface="Aptos" pitchFamily="34" charset="0"/>
                <a:ea typeface="Aptos" pitchFamily="34" charset="-122"/>
                <a:cs typeface="Aptos" pitchFamily="34" charset="-120"/>
              </a:rPr>
              <a:t>STOREREADY</a:t>
            </a:r>
            <a:endParaRPr lang="en-US" sz="900" dirty="0"/>
          </a:p>
        </p:txBody>
      </p:sp>
      <p:sp>
        <p:nvSpPr>
          <p:cNvPr id="22" name="Text 20"/>
          <p:cNvSpPr/>
          <p:nvPr/>
        </p:nvSpPr>
        <p:spPr>
          <a:xfrm>
            <a:off x="2578608" y="5212080"/>
            <a:ext cx="8183880" cy="393192"/>
          </a:xfrm>
          <a:prstGeom prst="rect">
            <a:avLst/>
          </a:prstGeom>
          <a:noFill/>
          <a:ln/>
        </p:spPr>
        <p:txBody>
          <a:bodyPr wrap="square" lIns="0" tIns="0" rIns="0" bIns="0" rtlCol="0" anchor="ctr">
            <a:normAutofit/>
          </a:bodyPr>
          <a:lstStyle/>
          <a:p>
            <a:pPr indent="0" marL="0">
              <a:buNone/>
            </a:pPr>
            <a:r>
              <a:rPr lang="en-US" sz="1700" b="1" dirty="0">
                <a:solidFill>
                  <a:srgbClr val="F4F7F9"/>
                </a:solidFill>
                <a:latin typeface="Aptos" pitchFamily="34" charset="0"/>
                <a:ea typeface="Aptos" pitchFamily="34" charset="-122"/>
                <a:cs typeface="Aptos" pitchFamily="34" charset="-120"/>
              </a:rPr>
              <a:t>One workspace, separate app evidence, and visible coverage limits.</a:t>
            </a:r>
            <a:endParaRPr lang="en-US" sz="1700" dirty="0"/>
          </a:p>
        </p:txBody>
      </p:sp>
      <p:sp>
        <p:nvSpPr>
          <p:cNvPr id="25" name="Slide Number Placeholder 0"/>
          <p:cNvSpPr>
            <a:spLocks noGrp="1"/>
          </p:cNvSpPr>
          <p:nvPr>
            <p:ph type="sldNum" sz="quarter" idx="4294967295"/>
          </p:nvPr>
        </p:nvSpPr>
        <p:spPr>
          <a:xfrm>
            <a:off x="11356848" y="6510528"/>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8CA2B1"/>
                </a:solidFill>
                <a:latin typeface="Aptos"/>
                <a:ea typeface="Aptos"/>
                <a:cs typeface="Aptos"/>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94360" y="347472"/>
            <a:ext cx="4572000" cy="201168"/>
          </a:xfrm>
          <a:prstGeom prst="rect">
            <a:avLst/>
          </a:prstGeom>
          <a:noFill/>
          <a:ln/>
        </p:spPr>
        <p:txBody>
          <a:bodyPr wrap="square" lIns="0" tIns="0" rIns="0" bIns="0" rtlCol="0" anchor="ctr">
            <a:normAutofit/>
          </a:bodyPr>
          <a:lstStyle/>
          <a:p>
            <a:pPr indent="0" marL="0">
              <a:buNone/>
            </a:pPr>
            <a:r>
              <a:rPr lang="en-US" sz="900" b="1" spc="180" kern="0" dirty="0">
                <a:solidFill>
                  <a:srgbClr val="54D4A6"/>
                </a:solidFill>
                <a:latin typeface="Aptos" pitchFamily="34" charset="0"/>
                <a:ea typeface="Aptos" pitchFamily="34" charset="-122"/>
                <a:cs typeface="Aptos" pitchFamily="34" charset="-120"/>
              </a:rPr>
              <a:t>THE WORKFLOW</a:t>
            </a:r>
            <a:endParaRPr lang="en-US" sz="900" dirty="0"/>
          </a:p>
        </p:txBody>
      </p:sp>
      <p:sp>
        <p:nvSpPr>
          <p:cNvPr id="3" name="Text 1"/>
          <p:cNvSpPr/>
          <p:nvPr/>
        </p:nvSpPr>
        <p:spPr>
          <a:xfrm>
            <a:off x="594360" y="713232"/>
            <a:ext cx="10972800" cy="548640"/>
          </a:xfrm>
          <a:prstGeom prst="rect">
            <a:avLst/>
          </a:prstGeom>
          <a:noFill/>
          <a:ln/>
        </p:spPr>
        <p:txBody>
          <a:bodyPr wrap="square" lIns="0" tIns="0" rIns="0" bIns="0" rtlCol="0" anchor="ctr">
            <a:normAutofit/>
          </a:bodyPr>
          <a:lstStyle/>
          <a:p>
            <a:pPr indent="0" marL="0">
              <a:buNone/>
            </a:pPr>
            <a:r>
              <a:rPr lang="en-US" sz="2800" b="1" dirty="0">
                <a:solidFill>
                  <a:srgbClr val="F4F7F9"/>
                </a:solidFill>
                <a:latin typeface="Aptos Display" pitchFamily="34" charset="0"/>
                <a:ea typeface="Aptos Display" pitchFamily="34" charset="-122"/>
                <a:cs typeface="Aptos Display" pitchFamily="34" charset="-120"/>
              </a:rPr>
              <a:t>Every app gets its own market launch plan</a:t>
            </a:r>
            <a:endParaRPr lang="en-US" sz="2800" dirty="0"/>
          </a:p>
        </p:txBody>
      </p:sp>
      <p:sp>
        <p:nvSpPr>
          <p:cNvPr id="4" name="Text 2"/>
          <p:cNvSpPr/>
          <p:nvPr/>
        </p:nvSpPr>
        <p:spPr>
          <a:xfrm>
            <a:off x="612648" y="1325880"/>
            <a:ext cx="10607040" cy="384048"/>
          </a:xfrm>
          <a:prstGeom prst="rect">
            <a:avLst/>
          </a:prstGeom>
          <a:noFill/>
          <a:ln/>
        </p:spPr>
        <p:txBody>
          <a:bodyPr wrap="square" lIns="0" tIns="0" rIns="0" bIns="0" rtlCol="0" anchor="ctr">
            <a:normAutofit/>
          </a:bodyPr>
          <a:lstStyle/>
          <a:p>
            <a:pPr indent="0" marL="0">
              <a:buNone/>
            </a:pPr>
            <a:r>
              <a:rPr lang="en-US" sz="1300" dirty="0">
                <a:solidFill>
                  <a:srgbClr val="B1C0C9"/>
                </a:solidFill>
                <a:latin typeface="Aptos" pitchFamily="34" charset="0"/>
                <a:ea typeface="Aptos" pitchFamily="34" charset="-122"/>
                <a:cs typeface="Aptos" pitchFamily="34" charset="-120"/>
              </a:rPr>
              <a:t>A portfolio view keeps each product’s store, SEO, asset, and review work in the right context.</a:t>
            </a:r>
            <a:endParaRPr lang="en-US" sz="1300" dirty="0"/>
          </a:p>
        </p:txBody>
      </p:sp>
      <p:sp>
        <p:nvSpPr>
          <p:cNvPr id="5" name="Shape 3"/>
          <p:cNvSpPr/>
          <p:nvPr/>
        </p:nvSpPr>
        <p:spPr>
          <a:xfrm>
            <a:off x="713232" y="2286000"/>
            <a:ext cx="2212848" cy="2377440"/>
          </a:xfrm>
          <a:prstGeom prst="roundRect">
            <a:avLst>
              <a:gd name="adj" fmla="val 4959"/>
            </a:avLst>
          </a:prstGeom>
          <a:solidFill>
            <a:srgbClr val="142735"/>
          </a:solidFill>
          <a:ln w="12700">
            <a:solidFill>
              <a:srgbClr val="142735">
                <a:alpha val="0"/>
              </a:srgbClr>
            </a:solidFill>
            <a:prstDash val="solid"/>
          </a:ln>
        </p:spPr>
      </p:sp>
      <p:sp>
        <p:nvSpPr>
          <p:cNvPr id="6" name="Text 4"/>
          <p:cNvSpPr/>
          <p:nvPr/>
        </p:nvSpPr>
        <p:spPr>
          <a:xfrm>
            <a:off x="914400" y="2523744"/>
            <a:ext cx="502920" cy="237744"/>
          </a:xfrm>
          <a:prstGeom prst="rect">
            <a:avLst/>
          </a:prstGeom>
          <a:noFill/>
          <a:ln/>
        </p:spPr>
        <p:txBody>
          <a:bodyPr wrap="square" lIns="0" tIns="0" rIns="0" bIns="0" rtlCol="0" anchor="ctr">
            <a:normAutofit/>
          </a:bodyPr>
          <a:lstStyle/>
          <a:p>
            <a:pPr indent="0" marL="0">
              <a:buNone/>
            </a:pPr>
            <a:r>
              <a:rPr lang="en-US" sz="1000" b="1" spc="100" kern="0" dirty="0">
                <a:solidFill>
                  <a:srgbClr val="4A91FF"/>
                </a:solidFill>
                <a:latin typeface="Aptos" pitchFamily="34" charset="0"/>
                <a:ea typeface="Aptos" pitchFamily="34" charset="-122"/>
                <a:cs typeface="Aptos" pitchFamily="34" charset="-120"/>
              </a:rPr>
              <a:t>01</a:t>
            </a:r>
            <a:endParaRPr lang="en-US" sz="1000" dirty="0"/>
          </a:p>
        </p:txBody>
      </p:sp>
      <p:sp>
        <p:nvSpPr>
          <p:cNvPr id="7" name="Text 5"/>
          <p:cNvSpPr/>
          <p:nvPr/>
        </p:nvSpPr>
        <p:spPr>
          <a:xfrm>
            <a:off x="914400" y="2944368"/>
            <a:ext cx="1810512" cy="384048"/>
          </a:xfrm>
          <a:prstGeom prst="rect">
            <a:avLst/>
          </a:prstGeom>
          <a:noFill/>
          <a:ln/>
        </p:spPr>
        <p:txBody>
          <a:bodyPr wrap="square" lIns="0" tIns="0" rIns="0" bIns="0" rtlCol="0" anchor="ctr">
            <a:normAutofit/>
          </a:bodyPr>
          <a:lstStyle/>
          <a:p>
            <a:pPr indent="0" marL="0">
              <a:buNone/>
            </a:pPr>
            <a:r>
              <a:rPr lang="en-US" sz="2000" b="1" dirty="0">
                <a:solidFill>
                  <a:srgbClr val="F4F7F9"/>
                </a:solidFill>
                <a:latin typeface="Aptos Display" pitchFamily="34" charset="0"/>
                <a:ea typeface="Aptos Display" pitchFamily="34" charset="-122"/>
                <a:cs typeface="Aptos Display" pitchFamily="34" charset="-120"/>
              </a:rPr>
              <a:t>Choose app</a:t>
            </a:r>
            <a:endParaRPr lang="en-US" sz="2000" dirty="0"/>
          </a:p>
        </p:txBody>
      </p:sp>
      <p:sp>
        <p:nvSpPr>
          <p:cNvPr id="8" name="Text 6"/>
          <p:cNvSpPr/>
          <p:nvPr/>
        </p:nvSpPr>
        <p:spPr>
          <a:xfrm>
            <a:off x="914400" y="3547872"/>
            <a:ext cx="1792224" cy="859536"/>
          </a:xfrm>
          <a:prstGeom prst="rect">
            <a:avLst/>
          </a:prstGeom>
          <a:noFill/>
          <a:ln/>
        </p:spPr>
        <p:txBody>
          <a:bodyPr wrap="square" lIns="0" tIns="0" rIns="0" bIns="0" rtlCol="0" anchor="t">
            <a:normAutofit/>
          </a:bodyPr>
          <a:lstStyle/>
          <a:p>
            <a:pPr indent="0" marL="0">
              <a:buNone/>
            </a:pPr>
            <a:r>
              <a:rPr lang="en-US" sz="1150" dirty="0">
                <a:solidFill>
                  <a:srgbClr val="B1C0C9"/>
                </a:solidFill>
                <a:latin typeface="Aptos" pitchFamily="34" charset="0"/>
                <a:ea typeface="Aptos" pitchFamily="34" charset="-122"/>
                <a:cs typeface="Aptos" pitchFamily="34" charset="-120"/>
              </a:rPr>
              <a:t>Keep listing tasks, release findings, and evidence separated by product.</a:t>
            </a:r>
            <a:endParaRPr lang="en-US" sz="1150" dirty="0"/>
          </a:p>
        </p:txBody>
      </p:sp>
      <p:sp>
        <p:nvSpPr>
          <p:cNvPr id="9" name="Shape 7"/>
          <p:cNvSpPr/>
          <p:nvPr/>
        </p:nvSpPr>
        <p:spPr>
          <a:xfrm>
            <a:off x="3575304" y="2286000"/>
            <a:ext cx="2212848" cy="2377440"/>
          </a:xfrm>
          <a:prstGeom prst="roundRect">
            <a:avLst>
              <a:gd name="adj" fmla="val 4959"/>
            </a:avLst>
          </a:prstGeom>
          <a:solidFill>
            <a:srgbClr val="142735"/>
          </a:solidFill>
          <a:ln w="12700">
            <a:solidFill>
              <a:srgbClr val="142735">
                <a:alpha val="0"/>
              </a:srgbClr>
            </a:solidFill>
            <a:prstDash val="solid"/>
          </a:ln>
        </p:spPr>
      </p:sp>
      <p:sp>
        <p:nvSpPr>
          <p:cNvPr id="10" name="Text 8"/>
          <p:cNvSpPr/>
          <p:nvPr/>
        </p:nvSpPr>
        <p:spPr>
          <a:xfrm>
            <a:off x="3776472" y="2523744"/>
            <a:ext cx="502920" cy="237744"/>
          </a:xfrm>
          <a:prstGeom prst="rect">
            <a:avLst/>
          </a:prstGeom>
          <a:noFill/>
          <a:ln/>
        </p:spPr>
        <p:txBody>
          <a:bodyPr wrap="square" lIns="0" tIns="0" rIns="0" bIns="0" rtlCol="0" anchor="ctr">
            <a:normAutofit/>
          </a:bodyPr>
          <a:lstStyle/>
          <a:p>
            <a:pPr indent="0" marL="0">
              <a:buNone/>
            </a:pPr>
            <a:r>
              <a:rPr lang="en-US" sz="1000" b="1" spc="100" kern="0" dirty="0">
                <a:solidFill>
                  <a:srgbClr val="F1BA64"/>
                </a:solidFill>
                <a:latin typeface="Aptos" pitchFamily="34" charset="0"/>
                <a:ea typeface="Aptos" pitchFamily="34" charset="-122"/>
                <a:cs typeface="Aptos" pitchFamily="34" charset="-120"/>
              </a:rPr>
              <a:t>02</a:t>
            </a:r>
            <a:endParaRPr lang="en-US" sz="1000" dirty="0"/>
          </a:p>
        </p:txBody>
      </p:sp>
      <p:sp>
        <p:nvSpPr>
          <p:cNvPr id="11" name="Text 9"/>
          <p:cNvSpPr/>
          <p:nvPr/>
        </p:nvSpPr>
        <p:spPr>
          <a:xfrm>
            <a:off x="3776472" y="2944368"/>
            <a:ext cx="1810512" cy="384048"/>
          </a:xfrm>
          <a:prstGeom prst="rect">
            <a:avLst/>
          </a:prstGeom>
          <a:noFill/>
          <a:ln/>
        </p:spPr>
        <p:txBody>
          <a:bodyPr wrap="square" lIns="0" tIns="0" rIns="0" bIns="0" rtlCol="0" anchor="ctr">
            <a:normAutofit/>
          </a:bodyPr>
          <a:lstStyle/>
          <a:p>
            <a:pPr indent="0" marL="0">
              <a:buNone/>
            </a:pPr>
            <a:r>
              <a:rPr lang="en-US" sz="2000" b="1" dirty="0">
                <a:solidFill>
                  <a:srgbClr val="F4F7F9"/>
                </a:solidFill>
                <a:latin typeface="Aptos Display" pitchFamily="34" charset="0"/>
                <a:ea typeface="Aptos Display" pitchFamily="34" charset="-122"/>
                <a:cs typeface="Aptos Display" pitchFamily="34" charset="-120"/>
              </a:rPr>
              <a:t>Choose market</a:t>
            </a:r>
            <a:endParaRPr lang="en-US" sz="2000" dirty="0"/>
          </a:p>
        </p:txBody>
      </p:sp>
      <p:sp>
        <p:nvSpPr>
          <p:cNvPr id="12" name="Text 10"/>
          <p:cNvSpPr/>
          <p:nvPr/>
        </p:nvSpPr>
        <p:spPr>
          <a:xfrm>
            <a:off x="3776472" y="3547872"/>
            <a:ext cx="1792224" cy="859536"/>
          </a:xfrm>
          <a:prstGeom prst="rect">
            <a:avLst/>
          </a:prstGeom>
          <a:noFill/>
          <a:ln/>
        </p:spPr>
        <p:txBody>
          <a:bodyPr wrap="square" lIns="0" tIns="0" rIns="0" bIns="0" rtlCol="0" anchor="t">
            <a:normAutofit/>
          </a:bodyPr>
          <a:lstStyle/>
          <a:p>
            <a:pPr indent="0" marL="0">
              <a:buNone/>
            </a:pPr>
            <a:r>
              <a:rPr lang="en-US" sz="1150" dirty="0">
                <a:solidFill>
                  <a:srgbClr val="B1C0C9"/>
                </a:solidFill>
                <a:latin typeface="Aptos" pitchFamily="34" charset="0"/>
                <a:ea typeface="Aptos" pitchFamily="34" charset="-122"/>
                <a:cs typeface="Aptos" pitchFamily="34" charset="-120"/>
              </a:rPr>
              <a:t>Set a country and locale across Play, App Store, Galaxy, web, and GitHub.</a:t>
            </a:r>
            <a:endParaRPr lang="en-US" sz="1150" dirty="0"/>
          </a:p>
        </p:txBody>
      </p:sp>
      <p:sp>
        <p:nvSpPr>
          <p:cNvPr id="13" name="Shape 11"/>
          <p:cNvSpPr/>
          <p:nvPr/>
        </p:nvSpPr>
        <p:spPr>
          <a:xfrm>
            <a:off x="6437376" y="2286000"/>
            <a:ext cx="2212848" cy="2377440"/>
          </a:xfrm>
          <a:prstGeom prst="roundRect">
            <a:avLst>
              <a:gd name="adj" fmla="val 4959"/>
            </a:avLst>
          </a:prstGeom>
          <a:solidFill>
            <a:srgbClr val="142735"/>
          </a:solidFill>
          <a:ln w="12700">
            <a:solidFill>
              <a:srgbClr val="142735">
                <a:alpha val="0"/>
              </a:srgbClr>
            </a:solidFill>
            <a:prstDash val="solid"/>
          </a:ln>
        </p:spPr>
      </p:sp>
      <p:sp>
        <p:nvSpPr>
          <p:cNvPr id="14" name="Text 12"/>
          <p:cNvSpPr/>
          <p:nvPr/>
        </p:nvSpPr>
        <p:spPr>
          <a:xfrm>
            <a:off x="6638544" y="2523744"/>
            <a:ext cx="502920" cy="237744"/>
          </a:xfrm>
          <a:prstGeom prst="rect">
            <a:avLst/>
          </a:prstGeom>
          <a:noFill/>
          <a:ln/>
        </p:spPr>
        <p:txBody>
          <a:bodyPr wrap="square" lIns="0" tIns="0" rIns="0" bIns="0" rtlCol="0" anchor="ctr">
            <a:normAutofit/>
          </a:bodyPr>
          <a:lstStyle/>
          <a:p>
            <a:pPr indent="0" marL="0">
              <a:buNone/>
            </a:pPr>
            <a:r>
              <a:rPr lang="en-US" sz="1000" b="1" spc="100" kern="0" dirty="0">
                <a:solidFill>
                  <a:srgbClr val="54D4A6"/>
                </a:solidFill>
                <a:latin typeface="Aptos" pitchFamily="34" charset="0"/>
                <a:ea typeface="Aptos" pitchFamily="34" charset="-122"/>
                <a:cs typeface="Aptos" pitchFamily="34" charset="-120"/>
              </a:rPr>
              <a:t>03</a:t>
            </a:r>
            <a:endParaRPr lang="en-US" sz="1000" dirty="0"/>
          </a:p>
        </p:txBody>
      </p:sp>
      <p:sp>
        <p:nvSpPr>
          <p:cNvPr id="15" name="Text 13"/>
          <p:cNvSpPr/>
          <p:nvPr/>
        </p:nvSpPr>
        <p:spPr>
          <a:xfrm>
            <a:off x="6638544" y="2944368"/>
            <a:ext cx="1810512" cy="384048"/>
          </a:xfrm>
          <a:prstGeom prst="rect">
            <a:avLst/>
          </a:prstGeom>
          <a:noFill/>
          <a:ln/>
        </p:spPr>
        <p:txBody>
          <a:bodyPr wrap="square" lIns="0" tIns="0" rIns="0" bIns="0" rtlCol="0" anchor="ctr">
            <a:normAutofit/>
          </a:bodyPr>
          <a:lstStyle/>
          <a:p>
            <a:pPr indent="0" marL="0">
              <a:buNone/>
            </a:pPr>
            <a:r>
              <a:rPr lang="en-US" sz="2000" b="1" dirty="0">
                <a:solidFill>
                  <a:srgbClr val="F4F7F9"/>
                </a:solidFill>
                <a:latin typeface="Aptos Display" pitchFamily="34" charset="0"/>
                <a:ea typeface="Aptos Display" pitchFamily="34" charset="-122"/>
                <a:cs typeface="Aptos Display" pitchFamily="34" charset="-120"/>
              </a:rPr>
              <a:t>Prepare plan</a:t>
            </a:r>
            <a:endParaRPr lang="en-US" sz="2000" dirty="0"/>
          </a:p>
        </p:txBody>
      </p:sp>
      <p:sp>
        <p:nvSpPr>
          <p:cNvPr id="16" name="Text 14"/>
          <p:cNvSpPr/>
          <p:nvPr/>
        </p:nvSpPr>
        <p:spPr>
          <a:xfrm>
            <a:off x="6638544" y="3547872"/>
            <a:ext cx="1792224" cy="859536"/>
          </a:xfrm>
          <a:prstGeom prst="rect">
            <a:avLst/>
          </a:prstGeom>
          <a:noFill/>
          <a:ln/>
        </p:spPr>
        <p:txBody>
          <a:bodyPr wrap="square" lIns="0" tIns="0" rIns="0" bIns="0" rtlCol="0" anchor="t">
            <a:normAutofit/>
          </a:bodyPr>
          <a:lstStyle/>
          <a:p>
            <a:pPr indent="0" marL="0">
              <a:buNone/>
            </a:pPr>
            <a:r>
              <a:rPr lang="en-US" sz="1150" dirty="0">
                <a:solidFill>
                  <a:srgbClr val="B1C0C9"/>
                </a:solidFill>
                <a:latin typeface="Aptos" pitchFamily="34" charset="0"/>
                <a:ea typeface="Aptos" pitchFamily="34" charset="-122"/>
                <a:cs typeface="Aptos" pitchFamily="34" charset="-120"/>
              </a:rPr>
              <a:t>Draft English listing copy; review search ideas, artwork, privacy, and policy.</a:t>
            </a:r>
            <a:endParaRPr lang="en-US" sz="1150" dirty="0"/>
          </a:p>
        </p:txBody>
      </p:sp>
      <p:sp>
        <p:nvSpPr>
          <p:cNvPr id="17" name="Shape 15"/>
          <p:cNvSpPr/>
          <p:nvPr/>
        </p:nvSpPr>
        <p:spPr>
          <a:xfrm>
            <a:off x="9299448" y="2286000"/>
            <a:ext cx="2212848" cy="2377440"/>
          </a:xfrm>
          <a:prstGeom prst="roundRect">
            <a:avLst>
              <a:gd name="adj" fmla="val 4959"/>
            </a:avLst>
          </a:prstGeom>
          <a:solidFill>
            <a:srgbClr val="142735"/>
          </a:solidFill>
          <a:ln w="12700">
            <a:solidFill>
              <a:srgbClr val="142735">
                <a:alpha val="0"/>
              </a:srgbClr>
            </a:solidFill>
            <a:prstDash val="solid"/>
          </a:ln>
        </p:spPr>
      </p:sp>
      <p:sp>
        <p:nvSpPr>
          <p:cNvPr id="18" name="Text 16"/>
          <p:cNvSpPr/>
          <p:nvPr/>
        </p:nvSpPr>
        <p:spPr>
          <a:xfrm>
            <a:off x="9500616" y="2523744"/>
            <a:ext cx="502920" cy="237744"/>
          </a:xfrm>
          <a:prstGeom prst="rect">
            <a:avLst/>
          </a:prstGeom>
          <a:noFill/>
          <a:ln/>
        </p:spPr>
        <p:txBody>
          <a:bodyPr wrap="square" lIns="0" tIns="0" rIns="0" bIns="0" rtlCol="0" anchor="ctr">
            <a:normAutofit/>
          </a:bodyPr>
          <a:lstStyle/>
          <a:p>
            <a:pPr indent="0" marL="0">
              <a:buNone/>
            </a:pPr>
            <a:r>
              <a:rPr lang="en-US" sz="1000" b="1" spc="100" kern="0" dirty="0">
                <a:solidFill>
                  <a:srgbClr val="4A91FF"/>
                </a:solidFill>
                <a:latin typeface="Aptos" pitchFamily="34" charset="0"/>
                <a:ea typeface="Aptos" pitchFamily="34" charset="-122"/>
                <a:cs typeface="Aptos" pitchFamily="34" charset="-120"/>
              </a:rPr>
              <a:t>04</a:t>
            </a:r>
            <a:endParaRPr lang="en-US" sz="1000" dirty="0"/>
          </a:p>
        </p:txBody>
      </p:sp>
      <p:sp>
        <p:nvSpPr>
          <p:cNvPr id="19" name="Text 17"/>
          <p:cNvSpPr/>
          <p:nvPr/>
        </p:nvSpPr>
        <p:spPr>
          <a:xfrm>
            <a:off x="9500616" y="2944368"/>
            <a:ext cx="1810512" cy="384048"/>
          </a:xfrm>
          <a:prstGeom prst="rect">
            <a:avLst/>
          </a:prstGeom>
          <a:noFill/>
          <a:ln/>
        </p:spPr>
        <p:txBody>
          <a:bodyPr wrap="square" lIns="0" tIns="0" rIns="0" bIns="0" rtlCol="0" anchor="ctr">
            <a:normAutofit/>
          </a:bodyPr>
          <a:lstStyle/>
          <a:p>
            <a:pPr indent="0" marL="0">
              <a:buNone/>
            </a:pPr>
            <a:r>
              <a:rPr lang="en-US" sz="2000" b="1" dirty="0">
                <a:solidFill>
                  <a:srgbClr val="F4F7F9"/>
                </a:solidFill>
                <a:latin typeface="Aptos Display" pitchFamily="34" charset="0"/>
                <a:ea typeface="Aptos Display" pitchFamily="34" charset="-122"/>
                <a:cs typeface="Aptos Display" pitchFamily="34" charset="-120"/>
              </a:rPr>
              <a:t>Verify release</a:t>
            </a:r>
            <a:endParaRPr lang="en-US" sz="2000" dirty="0"/>
          </a:p>
        </p:txBody>
      </p:sp>
      <p:sp>
        <p:nvSpPr>
          <p:cNvPr id="20" name="Text 18"/>
          <p:cNvSpPr/>
          <p:nvPr/>
        </p:nvSpPr>
        <p:spPr>
          <a:xfrm>
            <a:off x="9500616" y="3547872"/>
            <a:ext cx="1792224" cy="859536"/>
          </a:xfrm>
          <a:prstGeom prst="rect">
            <a:avLst/>
          </a:prstGeom>
          <a:noFill/>
          <a:ln/>
        </p:spPr>
        <p:txBody>
          <a:bodyPr wrap="square" lIns="0" tIns="0" rIns="0" bIns="0" rtlCol="0" anchor="t">
            <a:normAutofit/>
          </a:bodyPr>
          <a:lstStyle/>
          <a:p>
            <a:pPr indent="0" marL="0">
              <a:buNone/>
            </a:pPr>
            <a:r>
              <a:rPr lang="en-US" sz="1150" dirty="0">
                <a:solidFill>
                  <a:srgbClr val="B1C0C9"/>
                </a:solidFill>
                <a:latin typeface="Aptos" pitchFamily="34" charset="0"/>
                <a:ea typeface="Aptos" pitchFamily="34" charset="-122"/>
                <a:cs typeface="Aptos" pitchFamily="34" charset="-120"/>
              </a:rPr>
              <a:t>Inspect source-backed static findings; keep unknown checks visible.</a:t>
            </a:r>
            <a:endParaRPr lang="en-US" sz="1150" dirty="0"/>
          </a:p>
        </p:txBody>
      </p:sp>
      <p:sp>
        <p:nvSpPr>
          <p:cNvPr id="21" name="Shape 19"/>
          <p:cNvSpPr/>
          <p:nvPr/>
        </p:nvSpPr>
        <p:spPr>
          <a:xfrm>
            <a:off x="3017520" y="3447288"/>
            <a:ext cx="438912" cy="0"/>
          </a:xfrm>
          <a:prstGeom prst="line">
            <a:avLst/>
          </a:prstGeom>
          <a:noFill/>
          <a:ln w="17780">
            <a:solidFill>
              <a:srgbClr val="8CA2B1"/>
            </a:solidFill>
            <a:prstDash val="solid"/>
            <a:headEnd type="none"/>
            <a:tailEnd type="none"/>
          </a:ln>
        </p:spPr>
      </p:sp>
      <p:sp>
        <p:nvSpPr>
          <p:cNvPr id="22" name="Shape 20"/>
          <p:cNvSpPr/>
          <p:nvPr/>
        </p:nvSpPr>
        <p:spPr>
          <a:xfrm>
            <a:off x="3383280" y="3346704"/>
            <a:ext cx="146304" cy="201168"/>
          </a:xfrm>
          <a:prstGeom prst="chevron">
            <a:avLst/>
          </a:prstGeom>
          <a:solidFill>
            <a:srgbClr val="8CA2B1"/>
          </a:solidFill>
          <a:ln w="12700">
            <a:solidFill>
              <a:srgbClr val="8CA2B1">
                <a:alpha val="0"/>
              </a:srgbClr>
            </a:solidFill>
            <a:prstDash val="solid"/>
          </a:ln>
        </p:spPr>
      </p:sp>
      <p:sp>
        <p:nvSpPr>
          <p:cNvPr id="23" name="Shape 21"/>
          <p:cNvSpPr/>
          <p:nvPr/>
        </p:nvSpPr>
        <p:spPr>
          <a:xfrm>
            <a:off x="5879592" y="3447288"/>
            <a:ext cx="438912" cy="0"/>
          </a:xfrm>
          <a:prstGeom prst="line">
            <a:avLst/>
          </a:prstGeom>
          <a:noFill/>
          <a:ln w="17780">
            <a:solidFill>
              <a:srgbClr val="8CA2B1"/>
            </a:solidFill>
            <a:prstDash val="solid"/>
            <a:headEnd type="none"/>
            <a:tailEnd type="none"/>
          </a:ln>
        </p:spPr>
      </p:sp>
      <p:sp>
        <p:nvSpPr>
          <p:cNvPr id="24" name="Shape 22"/>
          <p:cNvSpPr/>
          <p:nvPr/>
        </p:nvSpPr>
        <p:spPr>
          <a:xfrm>
            <a:off x="6245352" y="3346704"/>
            <a:ext cx="146304" cy="201168"/>
          </a:xfrm>
          <a:prstGeom prst="chevron">
            <a:avLst/>
          </a:prstGeom>
          <a:solidFill>
            <a:srgbClr val="8CA2B1"/>
          </a:solidFill>
          <a:ln w="12700">
            <a:solidFill>
              <a:srgbClr val="8CA2B1">
                <a:alpha val="0"/>
              </a:srgbClr>
            </a:solidFill>
            <a:prstDash val="solid"/>
          </a:ln>
        </p:spPr>
      </p:sp>
      <p:sp>
        <p:nvSpPr>
          <p:cNvPr id="25" name="Shape 23"/>
          <p:cNvSpPr/>
          <p:nvPr/>
        </p:nvSpPr>
        <p:spPr>
          <a:xfrm>
            <a:off x="8741664" y="3447288"/>
            <a:ext cx="438912" cy="0"/>
          </a:xfrm>
          <a:prstGeom prst="line">
            <a:avLst/>
          </a:prstGeom>
          <a:noFill/>
          <a:ln w="17780">
            <a:solidFill>
              <a:srgbClr val="8CA2B1"/>
            </a:solidFill>
            <a:prstDash val="solid"/>
            <a:headEnd type="none"/>
            <a:tailEnd type="none"/>
          </a:ln>
        </p:spPr>
      </p:sp>
      <p:sp>
        <p:nvSpPr>
          <p:cNvPr id="26" name="Shape 24"/>
          <p:cNvSpPr/>
          <p:nvPr/>
        </p:nvSpPr>
        <p:spPr>
          <a:xfrm>
            <a:off x="9107424" y="3346704"/>
            <a:ext cx="146304" cy="201168"/>
          </a:xfrm>
          <a:prstGeom prst="chevron">
            <a:avLst/>
          </a:prstGeom>
          <a:solidFill>
            <a:srgbClr val="8CA2B1"/>
          </a:solidFill>
          <a:ln w="12700">
            <a:solidFill>
              <a:srgbClr val="8CA2B1">
                <a:alpha val="0"/>
              </a:srgbClr>
            </a:solidFill>
            <a:prstDash val="solid"/>
          </a:ln>
        </p:spPr>
      </p:sp>
      <p:sp>
        <p:nvSpPr>
          <p:cNvPr id="27" name="Shape 25"/>
          <p:cNvSpPr/>
          <p:nvPr/>
        </p:nvSpPr>
        <p:spPr>
          <a:xfrm>
            <a:off x="731520" y="5074920"/>
            <a:ext cx="10716768" cy="603504"/>
          </a:xfrm>
          <a:prstGeom prst="roundRect">
            <a:avLst>
              <a:gd name="adj" fmla="val 18182"/>
            </a:avLst>
          </a:prstGeom>
          <a:solidFill>
            <a:srgbClr val="1A3444"/>
          </a:solidFill>
          <a:ln w="12700">
            <a:solidFill>
              <a:srgbClr val="1A3444">
                <a:alpha val="0"/>
              </a:srgbClr>
            </a:solidFill>
            <a:prstDash val="solid"/>
          </a:ln>
        </p:spPr>
      </p:sp>
      <p:sp>
        <p:nvSpPr>
          <p:cNvPr id="28" name="Text 26"/>
          <p:cNvSpPr/>
          <p:nvPr/>
        </p:nvSpPr>
        <p:spPr>
          <a:xfrm>
            <a:off x="987552" y="5266944"/>
            <a:ext cx="2057400" cy="201168"/>
          </a:xfrm>
          <a:prstGeom prst="rect">
            <a:avLst/>
          </a:prstGeom>
          <a:noFill/>
          <a:ln/>
        </p:spPr>
        <p:txBody>
          <a:bodyPr wrap="square" lIns="0" tIns="0" rIns="0" bIns="0" rtlCol="0" anchor="ctr">
            <a:normAutofit/>
          </a:bodyPr>
          <a:lstStyle/>
          <a:p>
            <a:pPr indent="0" marL="0">
              <a:buNone/>
            </a:pPr>
            <a:r>
              <a:rPr lang="en-US" sz="1300" b="1" dirty="0">
                <a:solidFill>
                  <a:srgbClr val="F4F7F9"/>
                </a:solidFill>
                <a:latin typeface="Aptos" pitchFamily="34" charset="0"/>
                <a:ea typeface="Aptos" pitchFamily="34" charset="-122"/>
                <a:cs typeface="Aptos" pitchFamily="34" charset="-120"/>
              </a:rPr>
              <a:t>585 locale options</a:t>
            </a:r>
            <a:endParaRPr lang="en-US" sz="1300" dirty="0"/>
          </a:p>
        </p:txBody>
      </p:sp>
      <p:sp>
        <p:nvSpPr>
          <p:cNvPr id="29" name="Shape 27"/>
          <p:cNvSpPr/>
          <p:nvPr/>
        </p:nvSpPr>
        <p:spPr>
          <a:xfrm>
            <a:off x="3163824" y="5212080"/>
            <a:ext cx="0" cy="338328"/>
          </a:xfrm>
          <a:prstGeom prst="line">
            <a:avLst/>
          </a:prstGeom>
          <a:noFill/>
          <a:ln w="12700">
            <a:solidFill>
              <a:srgbClr val="29404E"/>
            </a:solidFill>
            <a:prstDash val="solid"/>
            <a:headEnd type="none"/>
            <a:tailEnd type="none"/>
          </a:ln>
        </p:spPr>
      </p:sp>
      <p:sp>
        <p:nvSpPr>
          <p:cNvPr id="30" name="Text 28"/>
          <p:cNvSpPr/>
          <p:nvPr/>
        </p:nvSpPr>
        <p:spPr>
          <a:xfrm>
            <a:off x="3438144" y="5266944"/>
            <a:ext cx="3657600" cy="201168"/>
          </a:xfrm>
          <a:prstGeom prst="rect">
            <a:avLst/>
          </a:prstGeom>
          <a:noFill/>
          <a:ln/>
        </p:spPr>
        <p:txBody>
          <a:bodyPr wrap="square" lIns="0" tIns="0" rIns="0" bIns="0" rtlCol="0" anchor="ctr">
            <a:normAutofit/>
          </a:bodyPr>
          <a:lstStyle/>
          <a:p>
            <a:pPr indent="0" marL="0">
              <a:buNone/>
            </a:pPr>
            <a:r>
              <a:rPr lang="en-US" sz="1200" dirty="0">
                <a:solidFill>
                  <a:srgbClr val="B1C0C9"/>
                </a:solidFill>
                <a:latin typeface="Aptos" pitchFamily="34" charset="0"/>
                <a:ea typeface="Aptos" pitchFamily="34" charset="-122"/>
                <a:cs typeface="Aptos" pitchFamily="34" charset="-120"/>
              </a:rPr>
              <a:t>Plan by app × country × language × channel</a:t>
            </a:r>
            <a:endParaRPr lang="en-US" sz="1200" dirty="0"/>
          </a:p>
        </p:txBody>
      </p:sp>
      <p:sp>
        <p:nvSpPr>
          <p:cNvPr id="31" name="Shape 29"/>
          <p:cNvSpPr/>
          <p:nvPr/>
        </p:nvSpPr>
        <p:spPr>
          <a:xfrm>
            <a:off x="7315200" y="5212080"/>
            <a:ext cx="0" cy="338328"/>
          </a:xfrm>
          <a:prstGeom prst="line">
            <a:avLst/>
          </a:prstGeom>
          <a:noFill/>
          <a:ln w="12700">
            <a:solidFill>
              <a:srgbClr val="29404E"/>
            </a:solidFill>
            <a:prstDash val="solid"/>
            <a:headEnd type="none"/>
            <a:tailEnd type="none"/>
          </a:ln>
        </p:spPr>
      </p:sp>
      <p:sp>
        <p:nvSpPr>
          <p:cNvPr id="32" name="Text 30"/>
          <p:cNvSpPr/>
          <p:nvPr/>
        </p:nvSpPr>
        <p:spPr>
          <a:xfrm>
            <a:off x="7589520" y="5266944"/>
            <a:ext cx="3520440" cy="201168"/>
          </a:xfrm>
          <a:prstGeom prst="rect">
            <a:avLst/>
          </a:prstGeom>
          <a:noFill/>
          <a:ln/>
        </p:spPr>
        <p:txBody>
          <a:bodyPr wrap="square" lIns="0" tIns="0" rIns="0" bIns="0" rtlCol="0" anchor="ctr">
            <a:normAutofit/>
          </a:bodyPr>
          <a:lstStyle/>
          <a:p>
            <a:pPr indent="0" marL="0">
              <a:buNone/>
            </a:pPr>
            <a:r>
              <a:rPr lang="en-US" sz="1200" b="1" dirty="0">
                <a:solidFill>
                  <a:srgbClr val="54D4A6"/>
                </a:solidFill>
                <a:latin typeface="Aptos" pitchFamily="34" charset="0"/>
                <a:ea typeface="Aptos" pitchFamily="34" charset="-122"/>
                <a:cs typeface="Aptos" pitchFamily="34" charset="-120"/>
              </a:rPr>
              <a:t>Apps without a scanner stay unaudited</a:t>
            </a:r>
            <a:endParaRPr lang="en-US" sz="1200" dirty="0"/>
          </a:p>
        </p:txBody>
      </p:sp>
      <p:sp>
        <p:nvSpPr>
          <p:cNvPr id="25" name="Slide Number Placeholder 0"/>
          <p:cNvSpPr>
            <a:spLocks noGrp="1"/>
          </p:cNvSpPr>
          <p:nvPr>
            <p:ph type="sldNum" sz="quarter" idx="4294967295"/>
          </p:nvPr>
        </p:nvSpPr>
        <p:spPr>
          <a:xfrm>
            <a:off x="11356848" y="6510528"/>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8CA2B1"/>
                </a:solidFill>
                <a:latin typeface="Aptos"/>
                <a:ea typeface="Aptos"/>
                <a:cs typeface="Aptos"/>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94360" y="347472"/>
            <a:ext cx="4572000" cy="201168"/>
          </a:xfrm>
          <a:prstGeom prst="rect">
            <a:avLst/>
          </a:prstGeom>
          <a:noFill/>
          <a:ln/>
        </p:spPr>
        <p:txBody>
          <a:bodyPr wrap="square" lIns="0" tIns="0" rIns="0" bIns="0" rtlCol="0" anchor="ctr">
            <a:normAutofit/>
          </a:bodyPr>
          <a:lstStyle/>
          <a:p>
            <a:pPr indent="0" marL="0">
              <a:buNone/>
            </a:pPr>
            <a:r>
              <a:rPr lang="en-US" sz="900" b="1" spc="180" kern="0" dirty="0">
                <a:solidFill>
                  <a:srgbClr val="54D4A6"/>
                </a:solidFill>
                <a:latin typeface="Aptos" pitchFamily="34" charset="0"/>
                <a:ea typeface="Aptos" pitchFamily="34" charset="-122"/>
                <a:cs typeface="Aptos" pitchFamily="34" charset="-120"/>
              </a:rPr>
              <a:t>THE PRODUCT</a:t>
            </a:r>
            <a:endParaRPr lang="en-US" sz="900" dirty="0"/>
          </a:p>
        </p:txBody>
      </p:sp>
      <p:sp>
        <p:nvSpPr>
          <p:cNvPr id="3" name="Text 1"/>
          <p:cNvSpPr/>
          <p:nvPr/>
        </p:nvSpPr>
        <p:spPr>
          <a:xfrm>
            <a:off x="594360" y="713232"/>
            <a:ext cx="10972800" cy="548640"/>
          </a:xfrm>
          <a:prstGeom prst="rect">
            <a:avLst/>
          </a:prstGeom>
          <a:noFill/>
          <a:ln/>
        </p:spPr>
        <p:txBody>
          <a:bodyPr wrap="square" lIns="0" tIns="0" rIns="0" bIns="0" rtlCol="0" anchor="ctr">
            <a:normAutofit/>
          </a:bodyPr>
          <a:lstStyle/>
          <a:p>
            <a:pPr indent="0" marL="0">
              <a:buNone/>
            </a:pPr>
            <a:r>
              <a:rPr lang="en-US" sz="2800" b="1" dirty="0">
                <a:solidFill>
                  <a:srgbClr val="F4F7F9"/>
                </a:solidFill>
                <a:latin typeface="Aptos Display" pitchFamily="34" charset="0"/>
                <a:ea typeface="Aptos Display" pitchFamily="34" charset="-122"/>
                <a:cs typeface="Aptos Display" pitchFamily="34" charset="-120"/>
              </a:rPr>
              <a:t>A decision that shows its work</a:t>
            </a:r>
            <a:endParaRPr lang="en-US" sz="2800" dirty="0"/>
          </a:p>
        </p:txBody>
      </p:sp>
      <p:sp>
        <p:nvSpPr>
          <p:cNvPr id="4" name="Text 2"/>
          <p:cNvSpPr/>
          <p:nvPr/>
        </p:nvSpPr>
        <p:spPr>
          <a:xfrm>
            <a:off x="612648" y="1325880"/>
            <a:ext cx="10607040" cy="384048"/>
          </a:xfrm>
          <a:prstGeom prst="rect">
            <a:avLst/>
          </a:prstGeom>
          <a:noFill/>
          <a:ln/>
        </p:spPr>
        <p:txBody>
          <a:bodyPr wrap="square" lIns="0" tIns="0" rIns="0" bIns="0" rtlCol="0" anchor="ctr">
            <a:normAutofit/>
          </a:bodyPr>
          <a:lstStyle/>
          <a:p>
            <a:pPr indent="0" marL="0">
              <a:buNone/>
            </a:pPr>
            <a:r>
              <a:rPr lang="en-US" sz="1300" dirty="0">
                <a:solidFill>
                  <a:srgbClr val="B1C0C9"/>
                </a:solidFill>
                <a:latin typeface="Aptos" pitchFamily="34" charset="0"/>
                <a:ea typeface="Aptos" pitchFamily="34" charset="-122"/>
                <a:cs typeface="Aptos" pitchFamily="34" charset="-120"/>
              </a:rPr>
              <a:t>The readiness score is paired with findings, check areas and explicit limits.</a:t>
            </a:r>
            <a:endParaRPr lang="en-US" sz="1300" dirty="0"/>
          </a:p>
        </p:txBody>
      </p:sp>
      <p:sp>
        <p:nvSpPr>
          <p:cNvPr id="5" name="Shape 3"/>
          <p:cNvSpPr/>
          <p:nvPr/>
        </p:nvSpPr>
        <p:spPr>
          <a:xfrm>
            <a:off x="630936" y="1828800"/>
            <a:ext cx="6537960" cy="4315968"/>
          </a:xfrm>
          <a:prstGeom prst="roundRect">
            <a:avLst>
              <a:gd name="adj" fmla="val 2542"/>
            </a:avLst>
          </a:prstGeom>
          <a:solidFill>
            <a:srgbClr val="F2F6F7"/>
          </a:solidFill>
          <a:ln w="12700">
            <a:solidFill>
              <a:srgbClr val="F2F6F7">
                <a:alpha val="0"/>
              </a:srgbClr>
            </a:solidFill>
            <a:prstDash val="solid"/>
          </a:ln>
        </p:spPr>
      </p:sp>
      <p:pic>
        <p:nvPicPr>
          <p:cNvPr id="6" name="Image 0" descr="C:/Users/saini/Documents/Codex/2026-09-25/yep-for-the-ibm-bob-2/work/play-store-ready-vibe-coded-apps/docs/hackathon/cover.jpg">    </p:cNvPr>
          <p:cNvPicPr>
            <a:picLocks noChangeAspect="1"/>
          </p:cNvPicPr>
          <p:nvPr/>
        </p:nvPicPr>
        <p:blipFill>
          <a:blip r:embed="rId1"/>
          <a:stretch>
            <a:fillRect/>
          </a:stretch>
        </p:blipFill>
        <p:spPr>
          <a:xfrm>
            <a:off x="749808" y="1975104"/>
            <a:ext cx="6281928" cy="4169664"/>
          </a:xfrm>
          <a:prstGeom prst="rect">
            <a:avLst/>
          </a:prstGeom>
        </p:spPr>
      </p:pic>
      <p:sp>
        <p:nvSpPr>
          <p:cNvPr id="7" name="Text 4"/>
          <p:cNvSpPr/>
          <p:nvPr/>
        </p:nvSpPr>
        <p:spPr>
          <a:xfrm>
            <a:off x="7589520" y="2011680"/>
            <a:ext cx="2011680" cy="201168"/>
          </a:xfrm>
          <a:prstGeom prst="rect">
            <a:avLst/>
          </a:prstGeom>
          <a:noFill/>
          <a:ln/>
        </p:spPr>
        <p:txBody>
          <a:bodyPr wrap="square" lIns="0" tIns="0" rIns="0" bIns="0" rtlCol="0" anchor="ctr">
            <a:normAutofit/>
          </a:bodyPr>
          <a:lstStyle/>
          <a:p>
            <a:pPr indent="0" marL="0">
              <a:buNone/>
            </a:pPr>
            <a:r>
              <a:rPr lang="en-US" sz="900" b="1" spc="140" kern="0" dirty="0">
                <a:solidFill>
                  <a:srgbClr val="54D4A6"/>
                </a:solidFill>
                <a:latin typeface="Aptos" pitchFamily="34" charset="0"/>
                <a:ea typeface="Aptos" pitchFamily="34" charset="-122"/>
                <a:cs typeface="Aptos" pitchFamily="34" charset="-120"/>
              </a:rPr>
              <a:t>DECISION</a:t>
            </a:r>
            <a:endParaRPr lang="en-US" sz="900" dirty="0"/>
          </a:p>
        </p:txBody>
      </p:sp>
      <p:sp>
        <p:nvSpPr>
          <p:cNvPr id="8" name="Text 5"/>
          <p:cNvSpPr/>
          <p:nvPr/>
        </p:nvSpPr>
        <p:spPr>
          <a:xfrm>
            <a:off x="7580376" y="2377440"/>
            <a:ext cx="2514600" cy="822960"/>
          </a:xfrm>
          <a:prstGeom prst="rect">
            <a:avLst/>
          </a:prstGeom>
          <a:noFill/>
          <a:ln/>
        </p:spPr>
        <p:txBody>
          <a:bodyPr wrap="square" lIns="0" tIns="0" rIns="0" bIns="0" rtlCol="0" anchor="ctr">
            <a:normAutofit/>
          </a:bodyPr>
          <a:lstStyle/>
          <a:p>
            <a:pPr indent="0" marL="0">
              <a:buNone/>
            </a:pPr>
            <a:r>
              <a:rPr lang="en-US" sz="2700" b="1" dirty="0">
                <a:solidFill>
                  <a:srgbClr val="FC777B"/>
                </a:solidFill>
                <a:latin typeface="Aptos Display" pitchFamily="34" charset="0"/>
                <a:ea typeface="Aptos Display" pitchFamily="34" charset="-122"/>
                <a:cs typeface="Aptos Display" pitchFamily="34" charset="-120"/>
              </a:rPr>
              <a:t>RELEASE</a:t>
            </a:r>
            <a:endParaRPr lang="en-US" sz="2700" dirty="0"/>
          </a:p>
          <a:p>
            <a:pPr indent="0" marL="0">
              <a:buNone/>
            </a:pPr>
            <a:r>
              <a:rPr lang="en-US" sz="2700" b="1" dirty="0">
                <a:solidFill>
                  <a:srgbClr val="FC777B"/>
                </a:solidFill>
                <a:latin typeface="Aptos Display" pitchFamily="34" charset="0"/>
                <a:ea typeface="Aptos Display" pitchFamily="34" charset="-122"/>
                <a:cs typeface="Aptos Display" pitchFamily="34" charset="-120"/>
              </a:rPr>
              <a:t>BLOCKED</a:t>
            </a:r>
            <a:endParaRPr lang="en-US" sz="2700" dirty="0"/>
          </a:p>
        </p:txBody>
      </p:sp>
      <p:sp>
        <p:nvSpPr>
          <p:cNvPr id="9" name="Text 6"/>
          <p:cNvSpPr/>
          <p:nvPr/>
        </p:nvSpPr>
        <p:spPr>
          <a:xfrm>
            <a:off x="7598664" y="3364992"/>
            <a:ext cx="2103120" cy="402336"/>
          </a:xfrm>
          <a:prstGeom prst="rect">
            <a:avLst/>
          </a:prstGeom>
          <a:noFill/>
          <a:ln/>
        </p:spPr>
        <p:txBody>
          <a:bodyPr wrap="square" lIns="0" tIns="0" rIns="0" bIns="0" rtlCol="0" anchor="ctr">
            <a:normAutofit/>
          </a:bodyPr>
          <a:lstStyle/>
          <a:p>
            <a:pPr indent="0" marL="0">
              <a:buNone/>
            </a:pPr>
            <a:r>
              <a:rPr lang="en-US" sz="2300" b="1" dirty="0">
                <a:solidFill>
                  <a:srgbClr val="F4F7F9"/>
                </a:solidFill>
                <a:latin typeface="Aptos" pitchFamily="34" charset="0"/>
                <a:ea typeface="Aptos" pitchFamily="34" charset="-122"/>
                <a:cs typeface="Aptos" pitchFamily="34" charset="-120"/>
              </a:rPr>
              <a:t>43 / 100</a:t>
            </a:r>
            <a:endParaRPr lang="en-US" sz="2300" dirty="0"/>
          </a:p>
        </p:txBody>
      </p:sp>
      <p:sp>
        <p:nvSpPr>
          <p:cNvPr id="10" name="Shape 7"/>
          <p:cNvSpPr/>
          <p:nvPr/>
        </p:nvSpPr>
        <p:spPr>
          <a:xfrm>
            <a:off x="7598664" y="3968496"/>
            <a:ext cx="3739896" cy="0"/>
          </a:xfrm>
          <a:prstGeom prst="line">
            <a:avLst/>
          </a:prstGeom>
          <a:noFill/>
          <a:ln w="12700">
            <a:solidFill>
              <a:srgbClr val="29404E"/>
            </a:solidFill>
            <a:prstDash val="solid"/>
            <a:headEnd type="none"/>
            <a:tailEnd type="none"/>
          </a:ln>
        </p:spPr>
      </p:sp>
      <p:sp>
        <p:nvSpPr>
          <p:cNvPr id="11" name="Text 8"/>
          <p:cNvSpPr/>
          <p:nvPr/>
        </p:nvSpPr>
        <p:spPr>
          <a:xfrm>
            <a:off x="7598664" y="4233672"/>
            <a:ext cx="2651760" cy="274320"/>
          </a:xfrm>
          <a:prstGeom prst="rect">
            <a:avLst/>
          </a:prstGeom>
          <a:noFill/>
          <a:ln/>
        </p:spPr>
        <p:txBody>
          <a:bodyPr wrap="square" lIns="0" tIns="0" rIns="0" bIns="0" rtlCol="0" anchor="ctr">
            <a:normAutofit/>
          </a:bodyPr>
          <a:lstStyle/>
          <a:p>
            <a:pPr indent="0" marL="0">
              <a:buNone/>
            </a:pPr>
            <a:r>
              <a:rPr lang="en-US" sz="1400" b="1" dirty="0">
                <a:solidFill>
                  <a:srgbClr val="F4F7F9"/>
                </a:solidFill>
                <a:latin typeface="Aptos" pitchFamily="34" charset="0"/>
                <a:ea typeface="Aptos" pitchFamily="34" charset="-122"/>
                <a:cs typeface="Aptos" pitchFamily="34" charset="-120"/>
              </a:rPr>
              <a:t>2 blockers · 3 warnings</a:t>
            </a:r>
            <a:endParaRPr lang="en-US" sz="1400" dirty="0"/>
          </a:p>
        </p:txBody>
      </p:sp>
      <p:sp>
        <p:nvSpPr>
          <p:cNvPr id="12" name="Text 9"/>
          <p:cNvSpPr/>
          <p:nvPr/>
        </p:nvSpPr>
        <p:spPr>
          <a:xfrm>
            <a:off x="7598664" y="4645152"/>
            <a:ext cx="2331720" cy="256032"/>
          </a:xfrm>
          <a:prstGeom prst="rect">
            <a:avLst/>
          </a:prstGeom>
          <a:noFill/>
          <a:ln/>
        </p:spPr>
        <p:txBody>
          <a:bodyPr wrap="square" lIns="0" tIns="0" rIns="0" bIns="0" rtlCol="0" anchor="ctr">
            <a:normAutofit/>
          </a:bodyPr>
          <a:lstStyle/>
          <a:p>
            <a:pPr indent="0" marL="0">
              <a:buNone/>
            </a:pPr>
            <a:r>
              <a:rPr lang="en-US" sz="1200" dirty="0">
                <a:solidFill>
                  <a:srgbClr val="B1C0C9"/>
                </a:solidFill>
                <a:latin typeface="Aptos" pitchFamily="34" charset="0"/>
                <a:ea typeface="Aptos" pitchFamily="34" charset="-122"/>
                <a:cs typeface="Aptos" pitchFamily="34" charset="-120"/>
              </a:rPr>
              <a:t>17 checks  |  5 files</a:t>
            </a:r>
            <a:endParaRPr lang="en-US" sz="1200" dirty="0"/>
          </a:p>
        </p:txBody>
      </p:sp>
      <p:sp>
        <p:nvSpPr>
          <p:cNvPr id="13" name="Text 10"/>
          <p:cNvSpPr/>
          <p:nvPr/>
        </p:nvSpPr>
        <p:spPr>
          <a:xfrm>
            <a:off x="7598664" y="5148072"/>
            <a:ext cx="3383280" cy="704088"/>
          </a:xfrm>
          <a:prstGeom prst="rect">
            <a:avLst/>
          </a:prstGeom>
          <a:noFill/>
          <a:ln/>
        </p:spPr>
        <p:txBody>
          <a:bodyPr wrap="square" lIns="0" tIns="0" rIns="0" bIns="0" rtlCol="0" anchor="t">
            <a:normAutofit/>
          </a:bodyPr>
          <a:lstStyle/>
          <a:p>
            <a:pPr indent="0" marL="0">
              <a:buNone/>
            </a:pPr>
            <a:r>
              <a:rPr lang="en-US" sz="1100" dirty="0">
                <a:solidFill>
                  <a:srgbClr val="F1BA64"/>
                </a:solidFill>
                <a:latin typeface="Aptos" pitchFamily="34" charset="0"/>
                <a:ea typeface="Aptos" pitchFamily="34" charset="-122"/>
                <a:cs typeface="Aptos" pitchFamily="34" charset="-120"/>
              </a:rPr>
              <a:t>Tests and builds are not executed. Compliance is manual review or not assessed.</a:t>
            </a:r>
            <a:endParaRPr lang="en-US" sz="1100" dirty="0"/>
          </a:p>
        </p:txBody>
      </p:sp>
      <p:sp>
        <p:nvSpPr>
          <p:cNvPr id="25" name="Slide Number Placeholder 0"/>
          <p:cNvSpPr>
            <a:spLocks noGrp="1"/>
          </p:cNvSpPr>
          <p:nvPr>
            <p:ph type="sldNum" sz="quarter" idx="4294967295"/>
          </p:nvPr>
        </p:nvSpPr>
        <p:spPr>
          <a:xfrm>
            <a:off x="11356848" y="6510528"/>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8CA2B1"/>
                </a:solidFill>
                <a:latin typeface="Aptos"/>
                <a:ea typeface="Aptos"/>
                <a:cs typeface="Aptos"/>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94360" y="347472"/>
            <a:ext cx="4572000" cy="201168"/>
          </a:xfrm>
          <a:prstGeom prst="rect">
            <a:avLst/>
          </a:prstGeom>
          <a:noFill/>
          <a:ln/>
        </p:spPr>
        <p:txBody>
          <a:bodyPr wrap="square" lIns="0" tIns="0" rIns="0" bIns="0" rtlCol="0" anchor="ctr">
            <a:normAutofit/>
          </a:bodyPr>
          <a:lstStyle/>
          <a:p>
            <a:pPr indent="0" marL="0">
              <a:buNone/>
            </a:pPr>
            <a:r>
              <a:rPr lang="en-US" sz="900" b="1" spc="180" kern="0" dirty="0">
                <a:solidFill>
                  <a:srgbClr val="54D4A6"/>
                </a:solidFill>
                <a:latin typeface="Aptos" pitchFamily="34" charset="0"/>
                <a:ea typeface="Aptos" pitchFamily="34" charset="-122"/>
                <a:cs typeface="Aptos" pitchFamily="34" charset="-120"/>
              </a:rPr>
              <a:t>IBM BOB 2.0</a:t>
            </a:r>
            <a:endParaRPr lang="en-US" sz="900" dirty="0"/>
          </a:p>
        </p:txBody>
      </p:sp>
      <p:sp>
        <p:nvSpPr>
          <p:cNvPr id="3" name="Text 1"/>
          <p:cNvSpPr/>
          <p:nvPr/>
        </p:nvSpPr>
        <p:spPr>
          <a:xfrm>
            <a:off x="594360" y="713232"/>
            <a:ext cx="10972800" cy="548640"/>
          </a:xfrm>
          <a:prstGeom prst="rect">
            <a:avLst/>
          </a:prstGeom>
          <a:noFill/>
          <a:ln/>
        </p:spPr>
        <p:txBody>
          <a:bodyPr wrap="square" lIns="0" tIns="0" rIns="0" bIns="0" rtlCol="0" anchor="ctr">
            <a:normAutofit/>
          </a:bodyPr>
          <a:lstStyle/>
          <a:p>
            <a:pPr indent="0" marL="0">
              <a:buNone/>
            </a:pPr>
            <a:r>
              <a:rPr lang="en-US" sz="2800" b="1" dirty="0">
                <a:solidFill>
                  <a:srgbClr val="F4F7F9"/>
                </a:solidFill>
                <a:latin typeface="Aptos Display" pitchFamily="34" charset="0"/>
                <a:ea typeface="Aptos Display" pitchFamily="34" charset="-122"/>
                <a:cs typeface="Aptos Display" pitchFamily="34" charset="-120"/>
              </a:rPr>
              <a:t>A human-reviewed remediation handoff</a:t>
            </a:r>
            <a:endParaRPr lang="en-US" sz="2800" dirty="0"/>
          </a:p>
        </p:txBody>
      </p:sp>
      <p:sp>
        <p:nvSpPr>
          <p:cNvPr id="4" name="Text 2"/>
          <p:cNvSpPr/>
          <p:nvPr/>
        </p:nvSpPr>
        <p:spPr>
          <a:xfrm>
            <a:off x="612648" y="1325880"/>
            <a:ext cx="10607040" cy="384048"/>
          </a:xfrm>
          <a:prstGeom prst="rect">
            <a:avLst/>
          </a:prstGeom>
          <a:noFill/>
          <a:ln/>
        </p:spPr>
        <p:txBody>
          <a:bodyPr wrap="square" lIns="0" tIns="0" rIns="0" bIns="0" rtlCol="0" anchor="ctr">
            <a:normAutofit/>
          </a:bodyPr>
          <a:lstStyle/>
          <a:p>
            <a:pPr indent="0" marL="0">
              <a:buNone/>
            </a:pPr>
            <a:r>
              <a:rPr lang="en-US" sz="1300" dirty="0">
                <a:solidFill>
                  <a:srgbClr val="B1C0C9"/>
                </a:solidFill>
                <a:latin typeface="Aptos" pitchFamily="34" charset="0"/>
                <a:ea typeface="Aptos" pitchFamily="34" charset="-122"/>
                <a:cs typeface="Aptos" pitchFamily="34" charset="-120"/>
              </a:rPr>
              <a:t>ReleaseProof prepares the context; the developer owns the review and release decision.</a:t>
            </a:r>
            <a:endParaRPr lang="en-US" sz="1300" dirty="0"/>
          </a:p>
        </p:txBody>
      </p:sp>
      <p:sp>
        <p:nvSpPr>
          <p:cNvPr id="5" name="Shape 3"/>
          <p:cNvSpPr/>
          <p:nvPr/>
        </p:nvSpPr>
        <p:spPr>
          <a:xfrm>
            <a:off x="713232" y="2011680"/>
            <a:ext cx="6492240" cy="768096"/>
          </a:xfrm>
          <a:prstGeom prst="roundRect">
            <a:avLst>
              <a:gd name="adj" fmla="val 14286"/>
            </a:avLst>
          </a:prstGeom>
          <a:solidFill>
            <a:srgbClr val="142735"/>
          </a:solidFill>
          <a:ln w="12700">
            <a:solidFill>
              <a:srgbClr val="142735">
                <a:alpha val="0"/>
              </a:srgbClr>
            </a:solidFill>
            <a:prstDash val="solid"/>
          </a:ln>
        </p:spPr>
      </p:sp>
      <p:sp>
        <p:nvSpPr>
          <p:cNvPr id="6" name="Text 4"/>
          <p:cNvSpPr/>
          <p:nvPr/>
        </p:nvSpPr>
        <p:spPr>
          <a:xfrm>
            <a:off x="932688" y="2249424"/>
            <a:ext cx="512064" cy="219456"/>
          </a:xfrm>
          <a:prstGeom prst="rect">
            <a:avLst/>
          </a:prstGeom>
          <a:noFill/>
          <a:ln/>
        </p:spPr>
        <p:txBody>
          <a:bodyPr wrap="square" lIns="0" tIns="0" rIns="0" bIns="0" rtlCol="0" anchor="ctr">
            <a:normAutofit/>
          </a:bodyPr>
          <a:lstStyle/>
          <a:p>
            <a:pPr indent="0" marL="0">
              <a:buNone/>
            </a:pPr>
            <a:r>
              <a:rPr lang="en-US" sz="1100" b="1" dirty="0">
                <a:solidFill>
                  <a:srgbClr val="54D4A6"/>
                </a:solidFill>
                <a:latin typeface="Aptos" pitchFamily="34" charset="0"/>
                <a:ea typeface="Aptos" pitchFamily="34" charset="-122"/>
                <a:cs typeface="Aptos" pitchFamily="34" charset="-120"/>
              </a:rPr>
              <a:t>01</a:t>
            </a:r>
            <a:endParaRPr lang="en-US" sz="1100" dirty="0"/>
          </a:p>
        </p:txBody>
      </p:sp>
      <p:sp>
        <p:nvSpPr>
          <p:cNvPr id="7" name="Text 5"/>
          <p:cNvSpPr/>
          <p:nvPr/>
        </p:nvSpPr>
        <p:spPr>
          <a:xfrm>
            <a:off x="1572768" y="2139696"/>
            <a:ext cx="1975104" cy="256032"/>
          </a:xfrm>
          <a:prstGeom prst="rect">
            <a:avLst/>
          </a:prstGeom>
          <a:noFill/>
          <a:ln/>
        </p:spPr>
        <p:txBody>
          <a:bodyPr wrap="square" lIns="0" tIns="0" rIns="0" bIns="0" rtlCol="0" anchor="ctr">
            <a:normAutofit/>
          </a:bodyPr>
          <a:lstStyle/>
          <a:p>
            <a:pPr indent="0" marL="0">
              <a:buNone/>
            </a:pPr>
            <a:r>
              <a:rPr lang="en-US" sz="1500" b="1" dirty="0">
                <a:solidFill>
                  <a:srgbClr val="F4F7F9"/>
                </a:solidFill>
                <a:latin typeface="Aptos" pitchFamily="34" charset="0"/>
                <a:ea typeface="Aptos" pitchFamily="34" charset="-122"/>
                <a:cs typeface="Aptos" pitchFamily="34" charset="-120"/>
              </a:rPr>
              <a:t>Give Bob evidence</a:t>
            </a:r>
            <a:endParaRPr lang="en-US" sz="1500" dirty="0"/>
          </a:p>
        </p:txBody>
      </p:sp>
      <p:sp>
        <p:nvSpPr>
          <p:cNvPr id="8" name="Text 6"/>
          <p:cNvSpPr/>
          <p:nvPr/>
        </p:nvSpPr>
        <p:spPr>
          <a:xfrm>
            <a:off x="3566160" y="2139696"/>
            <a:ext cx="3337560" cy="475488"/>
          </a:xfrm>
          <a:prstGeom prst="rect">
            <a:avLst/>
          </a:prstGeom>
          <a:noFill/>
          <a:ln/>
        </p:spPr>
        <p:txBody>
          <a:bodyPr wrap="square" lIns="0" tIns="0" rIns="0" bIns="0" rtlCol="0" anchor="ctr">
            <a:normAutofit/>
          </a:bodyPr>
          <a:lstStyle/>
          <a:p>
            <a:pPr indent="0" marL="0">
              <a:buNone/>
            </a:pPr>
            <a:r>
              <a:rPr lang="en-US" sz="1100" dirty="0">
                <a:solidFill>
                  <a:srgbClr val="B1C0C9"/>
                </a:solidFill>
                <a:latin typeface="Aptos" pitchFamily="34" charset="0"/>
                <a:ea typeface="Aptos" pitchFamily="34" charset="-122"/>
                <a:cs typeface="Aptos" pitchFamily="34" charset="-120"/>
              </a:rPr>
              <a:t>Use the finding, source location, rule and remediation context to frame a focused task.</a:t>
            </a:r>
            <a:endParaRPr lang="en-US" sz="1100" dirty="0"/>
          </a:p>
        </p:txBody>
      </p:sp>
      <p:sp>
        <p:nvSpPr>
          <p:cNvPr id="9" name="Shape 7"/>
          <p:cNvSpPr/>
          <p:nvPr/>
        </p:nvSpPr>
        <p:spPr>
          <a:xfrm>
            <a:off x="713232" y="3017520"/>
            <a:ext cx="6492240" cy="768096"/>
          </a:xfrm>
          <a:prstGeom prst="roundRect">
            <a:avLst>
              <a:gd name="adj" fmla="val 14286"/>
            </a:avLst>
          </a:prstGeom>
          <a:solidFill>
            <a:srgbClr val="142735"/>
          </a:solidFill>
          <a:ln w="12700">
            <a:solidFill>
              <a:srgbClr val="142735">
                <a:alpha val="0"/>
              </a:srgbClr>
            </a:solidFill>
            <a:prstDash val="solid"/>
          </a:ln>
        </p:spPr>
      </p:sp>
      <p:sp>
        <p:nvSpPr>
          <p:cNvPr id="10" name="Text 8"/>
          <p:cNvSpPr/>
          <p:nvPr/>
        </p:nvSpPr>
        <p:spPr>
          <a:xfrm>
            <a:off x="932688" y="3255264"/>
            <a:ext cx="512064" cy="219456"/>
          </a:xfrm>
          <a:prstGeom prst="rect">
            <a:avLst/>
          </a:prstGeom>
          <a:noFill/>
          <a:ln/>
        </p:spPr>
        <p:txBody>
          <a:bodyPr wrap="square" lIns="0" tIns="0" rIns="0" bIns="0" rtlCol="0" anchor="ctr">
            <a:normAutofit/>
          </a:bodyPr>
          <a:lstStyle/>
          <a:p>
            <a:pPr indent="0" marL="0">
              <a:buNone/>
            </a:pPr>
            <a:r>
              <a:rPr lang="en-US" sz="1100" b="1" dirty="0">
                <a:solidFill>
                  <a:srgbClr val="F1BA64"/>
                </a:solidFill>
                <a:latin typeface="Aptos" pitchFamily="34" charset="0"/>
                <a:ea typeface="Aptos" pitchFamily="34" charset="-122"/>
                <a:cs typeface="Aptos" pitchFamily="34" charset="-120"/>
              </a:rPr>
              <a:t>02</a:t>
            </a:r>
            <a:endParaRPr lang="en-US" sz="1100" dirty="0"/>
          </a:p>
        </p:txBody>
      </p:sp>
      <p:sp>
        <p:nvSpPr>
          <p:cNvPr id="11" name="Text 9"/>
          <p:cNvSpPr/>
          <p:nvPr/>
        </p:nvSpPr>
        <p:spPr>
          <a:xfrm>
            <a:off x="1572768" y="3145536"/>
            <a:ext cx="1975104" cy="256032"/>
          </a:xfrm>
          <a:prstGeom prst="rect">
            <a:avLst/>
          </a:prstGeom>
          <a:noFill/>
          <a:ln/>
        </p:spPr>
        <p:txBody>
          <a:bodyPr wrap="square" lIns="0" tIns="0" rIns="0" bIns="0" rtlCol="0" anchor="ctr">
            <a:normAutofit/>
          </a:bodyPr>
          <a:lstStyle/>
          <a:p>
            <a:pPr indent="0" marL="0">
              <a:buNone/>
            </a:pPr>
            <a:r>
              <a:rPr lang="en-US" sz="1500" b="1" dirty="0">
                <a:solidFill>
                  <a:srgbClr val="F4F7F9"/>
                </a:solidFill>
                <a:latin typeface="Aptos" pitchFamily="34" charset="0"/>
                <a:ea typeface="Aptos" pitchFamily="34" charset="-122"/>
                <a:cs typeface="Aptos" pitchFamily="34" charset="-120"/>
              </a:rPr>
              <a:t>Review the proposal</a:t>
            </a:r>
            <a:endParaRPr lang="en-US" sz="1500" dirty="0"/>
          </a:p>
        </p:txBody>
      </p:sp>
      <p:sp>
        <p:nvSpPr>
          <p:cNvPr id="12" name="Text 10"/>
          <p:cNvSpPr/>
          <p:nvPr/>
        </p:nvSpPr>
        <p:spPr>
          <a:xfrm>
            <a:off x="3566160" y="3145536"/>
            <a:ext cx="3337560" cy="475488"/>
          </a:xfrm>
          <a:prstGeom prst="rect">
            <a:avLst/>
          </a:prstGeom>
          <a:noFill/>
          <a:ln/>
        </p:spPr>
        <p:txBody>
          <a:bodyPr wrap="square" lIns="0" tIns="0" rIns="0" bIns="0" rtlCol="0" anchor="ctr">
            <a:normAutofit/>
          </a:bodyPr>
          <a:lstStyle/>
          <a:p>
            <a:pPr indent="0" marL="0">
              <a:buNone/>
            </a:pPr>
            <a:r>
              <a:rPr lang="en-US" sz="1100" dirty="0">
                <a:solidFill>
                  <a:srgbClr val="B1C0C9"/>
                </a:solidFill>
                <a:latin typeface="Aptos" pitchFamily="34" charset="0"/>
                <a:ea typeface="Aptos" pitchFamily="34" charset="-122"/>
                <a:cs typeface="Aptos" pitchFamily="34" charset="-120"/>
              </a:rPr>
              <a:t>Inspect Bob’s actual changes in the repository before accepting a patch.</a:t>
            </a:r>
            <a:endParaRPr lang="en-US" sz="1100" dirty="0"/>
          </a:p>
        </p:txBody>
      </p:sp>
      <p:sp>
        <p:nvSpPr>
          <p:cNvPr id="13" name="Shape 11"/>
          <p:cNvSpPr/>
          <p:nvPr/>
        </p:nvSpPr>
        <p:spPr>
          <a:xfrm>
            <a:off x="713232" y="4023360"/>
            <a:ext cx="6492240" cy="768096"/>
          </a:xfrm>
          <a:prstGeom prst="roundRect">
            <a:avLst>
              <a:gd name="adj" fmla="val 14286"/>
            </a:avLst>
          </a:prstGeom>
          <a:solidFill>
            <a:srgbClr val="142735"/>
          </a:solidFill>
          <a:ln w="12700">
            <a:solidFill>
              <a:srgbClr val="142735">
                <a:alpha val="0"/>
              </a:srgbClr>
            </a:solidFill>
            <a:prstDash val="solid"/>
          </a:ln>
        </p:spPr>
      </p:sp>
      <p:sp>
        <p:nvSpPr>
          <p:cNvPr id="14" name="Text 12"/>
          <p:cNvSpPr/>
          <p:nvPr/>
        </p:nvSpPr>
        <p:spPr>
          <a:xfrm>
            <a:off x="932688" y="4261104"/>
            <a:ext cx="512064" cy="219456"/>
          </a:xfrm>
          <a:prstGeom prst="rect">
            <a:avLst/>
          </a:prstGeom>
          <a:noFill/>
          <a:ln/>
        </p:spPr>
        <p:txBody>
          <a:bodyPr wrap="square" lIns="0" tIns="0" rIns="0" bIns="0" rtlCol="0" anchor="ctr">
            <a:normAutofit/>
          </a:bodyPr>
          <a:lstStyle/>
          <a:p>
            <a:pPr indent="0" marL="0">
              <a:buNone/>
            </a:pPr>
            <a:r>
              <a:rPr lang="en-US" sz="1100" b="1" dirty="0">
                <a:solidFill>
                  <a:srgbClr val="54D4A6"/>
                </a:solidFill>
                <a:latin typeface="Aptos" pitchFamily="34" charset="0"/>
                <a:ea typeface="Aptos" pitchFamily="34" charset="-122"/>
                <a:cs typeface="Aptos" pitchFamily="34" charset="-120"/>
              </a:rPr>
              <a:t>03</a:t>
            </a:r>
            <a:endParaRPr lang="en-US" sz="1100" dirty="0"/>
          </a:p>
        </p:txBody>
      </p:sp>
      <p:sp>
        <p:nvSpPr>
          <p:cNvPr id="15" name="Text 13"/>
          <p:cNvSpPr/>
          <p:nvPr/>
        </p:nvSpPr>
        <p:spPr>
          <a:xfrm>
            <a:off x="1572768" y="4151376"/>
            <a:ext cx="1975104" cy="256032"/>
          </a:xfrm>
          <a:prstGeom prst="rect">
            <a:avLst/>
          </a:prstGeom>
          <a:noFill/>
          <a:ln/>
        </p:spPr>
        <p:txBody>
          <a:bodyPr wrap="square" lIns="0" tIns="0" rIns="0" bIns="0" rtlCol="0" anchor="ctr">
            <a:normAutofit/>
          </a:bodyPr>
          <a:lstStyle/>
          <a:p>
            <a:pPr indent="0" marL="0">
              <a:buNone/>
            </a:pPr>
            <a:r>
              <a:rPr lang="en-US" sz="1500" b="1" dirty="0">
                <a:solidFill>
                  <a:srgbClr val="F4F7F9"/>
                </a:solidFill>
                <a:latin typeface="Aptos" pitchFamily="34" charset="0"/>
                <a:ea typeface="Aptos" pitchFamily="34" charset="-122"/>
                <a:cs typeface="Aptos" pitchFamily="34" charset="-120"/>
              </a:rPr>
              <a:t>Verify again</a:t>
            </a:r>
            <a:endParaRPr lang="en-US" sz="1500" dirty="0"/>
          </a:p>
        </p:txBody>
      </p:sp>
      <p:sp>
        <p:nvSpPr>
          <p:cNvPr id="16" name="Text 14"/>
          <p:cNvSpPr/>
          <p:nvPr/>
        </p:nvSpPr>
        <p:spPr>
          <a:xfrm>
            <a:off x="3566160" y="4151376"/>
            <a:ext cx="3337560" cy="475488"/>
          </a:xfrm>
          <a:prstGeom prst="rect">
            <a:avLst/>
          </a:prstGeom>
          <a:noFill/>
          <a:ln/>
        </p:spPr>
        <p:txBody>
          <a:bodyPr wrap="square" lIns="0" tIns="0" rIns="0" bIns="0" rtlCol="0" anchor="ctr">
            <a:normAutofit/>
          </a:bodyPr>
          <a:lstStyle/>
          <a:p>
            <a:pPr indent="0" marL="0">
              <a:buNone/>
            </a:pPr>
            <a:r>
              <a:rPr lang="en-US" sz="1100" dirty="0">
                <a:solidFill>
                  <a:srgbClr val="B1C0C9"/>
                </a:solidFill>
                <a:latin typeface="Aptos" pitchFamily="34" charset="0"/>
                <a:ea typeface="Aptos" pitchFamily="34" charset="-122"/>
                <a:cs typeface="Aptos" pitchFamily="34" charset="-120"/>
              </a:rPr>
              <a:t>Run the checks that apply, inspect unresolved coverage and keep results evidence-backed.</a:t>
            </a:r>
            <a:endParaRPr lang="en-US" sz="1100" dirty="0"/>
          </a:p>
        </p:txBody>
      </p:sp>
      <p:sp>
        <p:nvSpPr>
          <p:cNvPr id="17" name="Shape 15"/>
          <p:cNvSpPr/>
          <p:nvPr/>
        </p:nvSpPr>
        <p:spPr>
          <a:xfrm>
            <a:off x="7635240" y="2011680"/>
            <a:ext cx="3703320" cy="2779776"/>
          </a:xfrm>
          <a:prstGeom prst="roundRect">
            <a:avLst>
              <a:gd name="adj" fmla="val 3947"/>
            </a:avLst>
          </a:prstGeom>
          <a:solidFill>
            <a:srgbClr val="1A3444"/>
          </a:solidFill>
          <a:ln w="12700">
            <a:solidFill>
              <a:srgbClr val="1A3444">
                <a:alpha val="0"/>
              </a:srgbClr>
            </a:solidFill>
            <a:prstDash val="solid"/>
          </a:ln>
        </p:spPr>
      </p:sp>
      <p:sp>
        <p:nvSpPr>
          <p:cNvPr id="18" name="Text 16"/>
          <p:cNvSpPr/>
          <p:nvPr/>
        </p:nvSpPr>
        <p:spPr>
          <a:xfrm>
            <a:off x="7936992" y="2350008"/>
            <a:ext cx="2926080" cy="210312"/>
          </a:xfrm>
          <a:prstGeom prst="rect">
            <a:avLst/>
          </a:prstGeom>
          <a:noFill/>
          <a:ln/>
        </p:spPr>
        <p:txBody>
          <a:bodyPr wrap="square" lIns="0" tIns="0" rIns="0" bIns="0" rtlCol="0" anchor="ctr">
            <a:normAutofit/>
          </a:bodyPr>
          <a:lstStyle/>
          <a:p>
            <a:pPr indent="0" marL="0">
              <a:buNone/>
            </a:pPr>
            <a:r>
              <a:rPr lang="en-US" sz="900" b="1" spc="120" kern="0" dirty="0">
                <a:solidFill>
                  <a:srgbClr val="F1BA64"/>
                </a:solidFill>
                <a:latin typeface="Aptos" pitchFamily="34" charset="0"/>
                <a:ea typeface="Aptos" pitchFamily="34" charset="-122"/>
                <a:cs typeface="Aptos" pitchFamily="34" charset="-120"/>
              </a:rPr>
              <a:t>SUBMISSION EVIDENCE</a:t>
            </a:r>
            <a:endParaRPr lang="en-US" sz="900" dirty="0"/>
          </a:p>
        </p:txBody>
      </p:sp>
      <p:sp>
        <p:nvSpPr>
          <p:cNvPr id="19" name="Text 17"/>
          <p:cNvSpPr/>
          <p:nvPr/>
        </p:nvSpPr>
        <p:spPr>
          <a:xfrm>
            <a:off x="7927848" y="2761488"/>
            <a:ext cx="2944368" cy="640080"/>
          </a:xfrm>
          <a:prstGeom prst="rect">
            <a:avLst/>
          </a:prstGeom>
          <a:noFill/>
          <a:ln/>
        </p:spPr>
        <p:txBody>
          <a:bodyPr wrap="square" lIns="0" tIns="0" rIns="0" bIns="0" rtlCol="0" anchor="ctr">
            <a:normAutofit/>
          </a:bodyPr>
          <a:lstStyle/>
          <a:p>
            <a:pPr indent="0" marL="0">
              <a:buNone/>
            </a:pPr>
            <a:r>
              <a:rPr lang="en-US" sz="1900" b="1" dirty="0">
                <a:solidFill>
                  <a:srgbClr val="F4F7F9"/>
                </a:solidFill>
                <a:latin typeface="Aptos Display" pitchFamily="34" charset="0"/>
                <a:ea typeface="Aptos Display" pitchFamily="34" charset="-122"/>
                <a:cs typeface="Aptos Display" pitchFamily="34" charset="-120"/>
              </a:rPr>
              <a:t>Real Bob sessions still need to be captured.</a:t>
            </a:r>
            <a:endParaRPr lang="en-US" sz="1900" dirty="0"/>
          </a:p>
        </p:txBody>
      </p:sp>
      <p:sp>
        <p:nvSpPr>
          <p:cNvPr id="20" name="Text 18"/>
          <p:cNvSpPr/>
          <p:nvPr/>
        </p:nvSpPr>
        <p:spPr>
          <a:xfrm>
            <a:off x="7946136" y="3685032"/>
            <a:ext cx="2889504" cy="777240"/>
          </a:xfrm>
          <a:prstGeom prst="rect">
            <a:avLst/>
          </a:prstGeom>
          <a:noFill/>
          <a:ln/>
        </p:spPr>
        <p:txBody>
          <a:bodyPr wrap="square" lIns="0" tIns="0" rIns="0" bIns="0" rtlCol="0" anchor="t">
            <a:normAutofit/>
          </a:bodyPr>
          <a:lstStyle/>
          <a:p>
            <a:pPr indent="0" marL="0">
              <a:buNone/>
            </a:pPr>
            <a:r>
              <a:rPr lang="en-US" sz="1100" dirty="0">
                <a:solidFill>
                  <a:srgbClr val="B1C0C9"/>
                </a:solidFill>
                <a:latin typeface="Aptos" pitchFamily="34" charset="0"/>
                <a:ea typeface="Aptos" pitchFamily="34" charset="-122"/>
                <a:cs typeface="Aptos" pitchFamily="34" charset="-120"/>
              </a:rPr>
              <a:t>Task prompts and this prototype do not count as session proof. Add authentic session summaries for each participating team member before submission.</a:t>
            </a:r>
            <a:endParaRPr lang="en-US" sz="1100" dirty="0"/>
          </a:p>
        </p:txBody>
      </p:sp>
      <p:sp>
        <p:nvSpPr>
          <p:cNvPr id="21" name="Shape 19"/>
          <p:cNvSpPr/>
          <p:nvPr/>
        </p:nvSpPr>
        <p:spPr>
          <a:xfrm>
            <a:off x="7936992" y="5138928"/>
            <a:ext cx="3063240" cy="393192"/>
          </a:xfrm>
          <a:prstGeom prst="roundRect">
            <a:avLst>
              <a:gd name="adj" fmla="val 27907"/>
            </a:avLst>
          </a:prstGeom>
          <a:solidFill>
            <a:srgbClr val="142735"/>
          </a:solidFill>
          <a:ln w="12700">
            <a:solidFill>
              <a:srgbClr val="142735">
                <a:alpha val="0"/>
              </a:srgbClr>
            </a:solidFill>
            <a:prstDash val="solid"/>
          </a:ln>
        </p:spPr>
      </p:sp>
      <p:sp>
        <p:nvSpPr>
          <p:cNvPr id="22" name="Text 20"/>
          <p:cNvSpPr/>
          <p:nvPr/>
        </p:nvSpPr>
        <p:spPr>
          <a:xfrm>
            <a:off x="8083296" y="5248656"/>
            <a:ext cx="2816352" cy="146304"/>
          </a:xfrm>
          <a:prstGeom prst="rect">
            <a:avLst/>
          </a:prstGeom>
          <a:noFill/>
          <a:ln/>
        </p:spPr>
        <p:txBody>
          <a:bodyPr wrap="square" lIns="0" tIns="0" rIns="0" bIns="0" rtlCol="0" anchor="ctr">
            <a:normAutofit/>
          </a:bodyPr>
          <a:lstStyle/>
          <a:p>
            <a:pPr indent="0" marL="0">
              <a:buNone/>
            </a:pPr>
            <a:r>
              <a:rPr lang="en-US" sz="800" b="1" spc="90" kern="0" dirty="0">
                <a:solidFill>
                  <a:srgbClr val="F1BA64"/>
                </a:solidFill>
                <a:latin typeface="Aptos" pitchFamily="34" charset="0"/>
                <a:ea typeface="Aptos" pitchFamily="34" charset="-122"/>
                <a:cs typeface="Aptos" pitchFamily="34" charset="-120"/>
              </a:rPr>
              <a:t>SESSION SCREENSHOTS: PENDING</a:t>
            </a:r>
            <a:endParaRPr lang="en-US" sz="800" dirty="0"/>
          </a:p>
        </p:txBody>
      </p:sp>
      <p:sp>
        <p:nvSpPr>
          <p:cNvPr id="25" name="Slide Number Placeholder 0"/>
          <p:cNvSpPr>
            <a:spLocks noGrp="1"/>
          </p:cNvSpPr>
          <p:nvPr>
            <p:ph type="sldNum" sz="quarter" idx="4294967295"/>
          </p:nvPr>
        </p:nvSpPr>
        <p:spPr>
          <a:xfrm>
            <a:off x="11356848" y="6510528"/>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8CA2B1"/>
                </a:solidFill>
                <a:latin typeface="Aptos"/>
                <a:ea typeface="Aptos"/>
                <a:cs typeface="Aptos"/>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94360" y="347472"/>
            <a:ext cx="4572000" cy="201168"/>
          </a:xfrm>
          <a:prstGeom prst="rect">
            <a:avLst/>
          </a:prstGeom>
          <a:noFill/>
          <a:ln/>
        </p:spPr>
        <p:txBody>
          <a:bodyPr wrap="square" lIns="0" tIns="0" rIns="0" bIns="0" rtlCol="0" anchor="ctr">
            <a:normAutofit/>
          </a:bodyPr>
          <a:lstStyle/>
          <a:p>
            <a:pPr indent="0" marL="0">
              <a:buNone/>
            </a:pPr>
            <a:r>
              <a:rPr lang="en-US" sz="900" b="1" spc="180" kern="0" dirty="0">
                <a:solidFill>
                  <a:srgbClr val="54D4A6"/>
                </a:solidFill>
                <a:latin typeface="Aptos" pitchFamily="34" charset="0"/>
                <a:ea typeface="Aptos" pitchFamily="34" charset="-122"/>
                <a:cs typeface="Aptos" pitchFamily="34" charset="-120"/>
              </a:rPr>
              <a:t>WHY IT MATTERS</a:t>
            </a:r>
            <a:endParaRPr lang="en-US" sz="900" dirty="0"/>
          </a:p>
        </p:txBody>
      </p:sp>
      <p:sp>
        <p:nvSpPr>
          <p:cNvPr id="3" name="Text 1"/>
          <p:cNvSpPr/>
          <p:nvPr/>
        </p:nvSpPr>
        <p:spPr>
          <a:xfrm>
            <a:off x="594360" y="713232"/>
            <a:ext cx="10972800" cy="548640"/>
          </a:xfrm>
          <a:prstGeom prst="rect">
            <a:avLst/>
          </a:prstGeom>
          <a:noFill/>
          <a:ln/>
        </p:spPr>
        <p:txBody>
          <a:bodyPr wrap="square" lIns="0" tIns="0" rIns="0" bIns="0" rtlCol="0" anchor="ctr">
            <a:normAutofit/>
          </a:bodyPr>
          <a:lstStyle/>
          <a:p>
            <a:pPr indent="0" marL="0">
              <a:buNone/>
            </a:pPr>
            <a:r>
              <a:rPr lang="en-US" sz="2800" b="1" dirty="0">
                <a:solidFill>
                  <a:srgbClr val="F4F7F9"/>
                </a:solidFill>
                <a:latin typeface="Aptos Display" pitchFamily="34" charset="0"/>
                <a:ea typeface="Aptos Display" pitchFamily="34" charset="-122"/>
                <a:cs typeface="Aptos Display" pitchFamily="34" charset="-120"/>
              </a:rPr>
              <a:t>Built around the four judging dimensions</a:t>
            </a:r>
            <a:endParaRPr lang="en-US" sz="2800" dirty="0"/>
          </a:p>
        </p:txBody>
      </p:sp>
      <p:sp>
        <p:nvSpPr>
          <p:cNvPr id="4" name="Text 2"/>
          <p:cNvSpPr/>
          <p:nvPr/>
        </p:nvSpPr>
        <p:spPr>
          <a:xfrm>
            <a:off x="612648" y="1325880"/>
            <a:ext cx="10607040" cy="384048"/>
          </a:xfrm>
          <a:prstGeom prst="rect">
            <a:avLst/>
          </a:prstGeom>
          <a:noFill/>
          <a:ln/>
        </p:spPr>
        <p:txBody>
          <a:bodyPr wrap="square" lIns="0" tIns="0" rIns="0" bIns="0" rtlCol="0" anchor="ctr">
            <a:normAutofit/>
          </a:bodyPr>
          <a:lstStyle/>
          <a:p>
            <a:pPr indent="0" marL="0">
              <a:buNone/>
            </a:pPr>
            <a:r>
              <a:rPr lang="en-US" sz="1300" dirty="0">
                <a:solidFill>
                  <a:srgbClr val="B1C0C9"/>
                </a:solidFill>
                <a:latin typeface="Aptos" pitchFamily="34" charset="0"/>
                <a:ea typeface="Aptos" pitchFamily="34" charset="-122"/>
                <a:cs typeface="Aptos" pitchFamily="34" charset="-120"/>
              </a:rPr>
              <a:t>The prototype demonstrates a working loop and keeps what remains visible.</a:t>
            </a:r>
            <a:endParaRPr lang="en-US" sz="1300" dirty="0"/>
          </a:p>
        </p:txBody>
      </p:sp>
      <p:sp>
        <p:nvSpPr>
          <p:cNvPr id="5" name="Shape 3"/>
          <p:cNvSpPr/>
          <p:nvPr/>
        </p:nvSpPr>
        <p:spPr>
          <a:xfrm>
            <a:off x="694944" y="1993392"/>
            <a:ext cx="5285232" cy="1280160"/>
          </a:xfrm>
          <a:prstGeom prst="roundRect">
            <a:avLst>
              <a:gd name="adj" fmla="val 8571"/>
            </a:avLst>
          </a:prstGeom>
          <a:solidFill>
            <a:srgbClr val="142735"/>
          </a:solidFill>
          <a:ln w="12700">
            <a:solidFill>
              <a:srgbClr val="142735">
                <a:alpha val="0"/>
              </a:srgbClr>
            </a:solidFill>
            <a:prstDash val="solid"/>
          </a:ln>
        </p:spPr>
      </p:sp>
      <p:sp>
        <p:nvSpPr>
          <p:cNvPr id="6" name="Shape 4"/>
          <p:cNvSpPr/>
          <p:nvPr/>
        </p:nvSpPr>
        <p:spPr>
          <a:xfrm>
            <a:off x="896112" y="2221992"/>
            <a:ext cx="54864" cy="804672"/>
          </a:xfrm>
          <a:prstGeom prst="roundRect">
            <a:avLst>
              <a:gd name="adj" fmla="val 200000"/>
            </a:avLst>
          </a:prstGeom>
          <a:solidFill>
            <a:srgbClr val="4A91FF"/>
          </a:solidFill>
          <a:ln w="12700">
            <a:solidFill>
              <a:srgbClr val="4A91FF">
                <a:alpha val="0"/>
              </a:srgbClr>
            </a:solidFill>
            <a:prstDash val="solid"/>
          </a:ln>
        </p:spPr>
      </p:sp>
      <p:sp>
        <p:nvSpPr>
          <p:cNvPr id="7" name="Text 5"/>
          <p:cNvSpPr/>
          <p:nvPr/>
        </p:nvSpPr>
        <p:spPr>
          <a:xfrm>
            <a:off x="1133856" y="2212848"/>
            <a:ext cx="4517136" cy="182880"/>
          </a:xfrm>
          <a:prstGeom prst="rect">
            <a:avLst/>
          </a:prstGeom>
          <a:noFill/>
          <a:ln/>
        </p:spPr>
        <p:txBody>
          <a:bodyPr wrap="square" lIns="0" tIns="0" rIns="0" bIns="0" rtlCol="0" anchor="ctr">
            <a:normAutofit/>
          </a:bodyPr>
          <a:lstStyle/>
          <a:p>
            <a:pPr indent="0" marL="0">
              <a:buNone/>
            </a:pPr>
            <a:r>
              <a:rPr lang="en-US" sz="800" b="1" spc="110" kern="0" dirty="0">
                <a:solidFill>
                  <a:srgbClr val="4A91FF"/>
                </a:solidFill>
                <a:latin typeface="Aptos" pitchFamily="34" charset="0"/>
                <a:ea typeface="Aptos" pitchFamily="34" charset="-122"/>
                <a:cs typeface="Aptos" pitchFamily="34" charset="-120"/>
              </a:rPr>
              <a:t>APPLICATION OF TECHNOLOGY</a:t>
            </a:r>
            <a:endParaRPr lang="en-US" sz="800" dirty="0"/>
          </a:p>
        </p:txBody>
      </p:sp>
      <p:sp>
        <p:nvSpPr>
          <p:cNvPr id="8" name="Text 6"/>
          <p:cNvSpPr/>
          <p:nvPr/>
        </p:nvSpPr>
        <p:spPr>
          <a:xfrm>
            <a:off x="1133856" y="2551176"/>
            <a:ext cx="4498848" cy="548640"/>
          </a:xfrm>
          <a:prstGeom prst="rect">
            <a:avLst/>
          </a:prstGeom>
          <a:noFill/>
          <a:ln/>
        </p:spPr>
        <p:txBody>
          <a:bodyPr wrap="square" lIns="0" tIns="0" rIns="0" bIns="0" rtlCol="0" anchor="t">
            <a:normAutofit/>
          </a:bodyPr>
          <a:lstStyle/>
          <a:p>
            <a:pPr indent="0" marL="0">
              <a:buNone/>
            </a:pPr>
            <a:r>
              <a:rPr lang="en-US" sz="1300" dirty="0">
                <a:solidFill>
                  <a:srgbClr val="F4F7F9"/>
                </a:solidFill>
                <a:latin typeface="Aptos" pitchFamily="34" charset="0"/>
                <a:ea typeface="Aptos" pitchFamily="34" charset="-122"/>
                <a:cs typeface="Aptos" pitchFamily="34" charset="-120"/>
              </a:rPr>
              <a:t>Deterministic static checks, source evidence, redaction and portable reports.</a:t>
            </a:r>
            <a:endParaRPr lang="en-US" sz="1300" dirty="0"/>
          </a:p>
        </p:txBody>
      </p:sp>
      <p:sp>
        <p:nvSpPr>
          <p:cNvPr id="9" name="Shape 7"/>
          <p:cNvSpPr/>
          <p:nvPr/>
        </p:nvSpPr>
        <p:spPr>
          <a:xfrm>
            <a:off x="6217920" y="1993392"/>
            <a:ext cx="5285232" cy="1280160"/>
          </a:xfrm>
          <a:prstGeom prst="roundRect">
            <a:avLst>
              <a:gd name="adj" fmla="val 8571"/>
            </a:avLst>
          </a:prstGeom>
          <a:solidFill>
            <a:srgbClr val="142735"/>
          </a:solidFill>
          <a:ln w="12700">
            <a:solidFill>
              <a:srgbClr val="142735">
                <a:alpha val="0"/>
              </a:srgbClr>
            </a:solidFill>
            <a:prstDash val="solid"/>
          </a:ln>
        </p:spPr>
      </p:sp>
      <p:sp>
        <p:nvSpPr>
          <p:cNvPr id="10" name="Shape 8"/>
          <p:cNvSpPr/>
          <p:nvPr/>
        </p:nvSpPr>
        <p:spPr>
          <a:xfrm>
            <a:off x="6419088" y="2221992"/>
            <a:ext cx="54864" cy="804672"/>
          </a:xfrm>
          <a:prstGeom prst="roundRect">
            <a:avLst>
              <a:gd name="adj" fmla="val 200000"/>
            </a:avLst>
          </a:prstGeom>
          <a:solidFill>
            <a:srgbClr val="54D4A6"/>
          </a:solidFill>
          <a:ln w="12700">
            <a:solidFill>
              <a:srgbClr val="54D4A6">
                <a:alpha val="0"/>
              </a:srgbClr>
            </a:solidFill>
            <a:prstDash val="solid"/>
          </a:ln>
        </p:spPr>
      </p:sp>
      <p:sp>
        <p:nvSpPr>
          <p:cNvPr id="11" name="Text 9"/>
          <p:cNvSpPr/>
          <p:nvPr/>
        </p:nvSpPr>
        <p:spPr>
          <a:xfrm>
            <a:off x="6656832" y="2212848"/>
            <a:ext cx="4517136" cy="182880"/>
          </a:xfrm>
          <a:prstGeom prst="rect">
            <a:avLst/>
          </a:prstGeom>
          <a:noFill/>
          <a:ln/>
        </p:spPr>
        <p:txBody>
          <a:bodyPr wrap="square" lIns="0" tIns="0" rIns="0" bIns="0" rtlCol="0" anchor="ctr">
            <a:normAutofit/>
          </a:bodyPr>
          <a:lstStyle/>
          <a:p>
            <a:pPr indent="0" marL="0">
              <a:buNone/>
            </a:pPr>
            <a:r>
              <a:rPr lang="en-US" sz="800" b="1" spc="110" kern="0" dirty="0">
                <a:solidFill>
                  <a:srgbClr val="54D4A6"/>
                </a:solidFill>
                <a:latin typeface="Aptos" pitchFamily="34" charset="0"/>
                <a:ea typeface="Aptos" pitchFamily="34" charset="-122"/>
                <a:cs typeface="Aptos" pitchFamily="34" charset="-120"/>
              </a:rPr>
              <a:t>PRESENTATION</a:t>
            </a:r>
            <a:endParaRPr lang="en-US" sz="800" dirty="0"/>
          </a:p>
        </p:txBody>
      </p:sp>
      <p:sp>
        <p:nvSpPr>
          <p:cNvPr id="12" name="Text 10"/>
          <p:cNvSpPr/>
          <p:nvPr/>
        </p:nvSpPr>
        <p:spPr>
          <a:xfrm>
            <a:off x="6656832" y="2551176"/>
            <a:ext cx="4498848" cy="548640"/>
          </a:xfrm>
          <a:prstGeom prst="rect">
            <a:avLst/>
          </a:prstGeom>
          <a:noFill/>
          <a:ln/>
        </p:spPr>
        <p:txBody>
          <a:bodyPr wrap="square" lIns="0" tIns="0" rIns="0" bIns="0" rtlCol="0" anchor="t">
            <a:normAutofit/>
          </a:bodyPr>
          <a:lstStyle/>
          <a:p>
            <a:pPr indent="0" marL="0">
              <a:buNone/>
            </a:pPr>
            <a:r>
              <a:rPr lang="en-US" sz="1300" dirty="0">
                <a:solidFill>
                  <a:srgbClr val="F4F7F9"/>
                </a:solidFill>
                <a:latin typeface="Aptos" pitchFamily="34" charset="0"/>
                <a:ea typeface="Aptos" pitchFamily="34" charset="-122"/>
                <a:cs typeface="Aptos" pitchFamily="34" charset="-120"/>
              </a:rPr>
              <a:t>A live broken fixture to audit to review to re-audit product walkthrough.</a:t>
            </a:r>
            <a:endParaRPr lang="en-US" sz="1300" dirty="0"/>
          </a:p>
        </p:txBody>
      </p:sp>
      <p:sp>
        <p:nvSpPr>
          <p:cNvPr id="13" name="Shape 11"/>
          <p:cNvSpPr/>
          <p:nvPr/>
        </p:nvSpPr>
        <p:spPr>
          <a:xfrm>
            <a:off x="694944" y="3575304"/>
            <a:ext cx="5285232" cy="1280160"/>
          </a:xfrm>
          <a:prstGeom prst="roundRect">
            <a:avLst>
              <a:gd name="adj" fmla="val 8571"/>
            </a:avLst>
          </a:prstGeom>
          <a:solidFill>
            <a:srgbClr val="142735"/>
          </a:solidFill>
          <a:ln w="12700">
            <a:solidFill>
              <a:srgbClr val="142735">
                <a:alpha val="0"/>
              </a:srgbClr>
            </a:solidFill>
            <a:prstDash val="solid"/>
          </a:ln>
        </p:spPr>
      </p:sp>
      <p:sp>
        <p:nvSpPr>
          <p:cNvPr id="14" name="Shape 12"/>
          <p:cNvSpPr/>
          <p:nvPr/>
        </p:nvSpPr>
        <p:spPr>
          <a:xfrm>
            <a:off x="896112" y="3803904"/>
            <a:ext cx="54864" cy="804672"/>
          </a:xfrm>
          <a:prstGeom prst="roundRect">
            <a:avLst>
              <a:gd name="adj" fmla="val 200000"/>
            </a:avLst>
          </a:prstGeom>
          <a:solidFill>
            <a:srgbClr val="F1BA64"/>
          </a:solidFill>
          <a:ln w="12700">
            <a:solidFill>
              <a:srgbClr val="F1BA64">
                <a:alpha val="0"/>
              </a:srgbClr>
            </a:solidFill>
            <a:prstDash val="solid"/>
          </a:ln>
        </p:spPr>
      </p:sp>
      <p:sp>
        <p:nvSpPr>
          <p:cNvPr id="15" name="Text 13"/>
          <p:cNvSpPr/>
          <p:nvPr/>
        </p:nvSpPr>
        <p:spPr>
          <a:xfrm>
            <a:off x="1133856" y="3794760"/>
            <a:ext cx="4517136" cy="182880"/>
          </a:xfrm>
          <a:prstGeom prst="rect">
            <a:avLst/>
          </a:prstGeom>
          <a:noFill/>
          <a:ln/>
        </p:spPr>
        <p:txBody>
          <a:bodyPr wrap="square" lIns="0" tIns="0" rIns="0" bIns="0" rtlCol="0" anchor="ctr">
            <a:normAutofit/>
          </a:bodyPr>
          <a:lstStyle/>
          <a:p>
            <a:pPr indent="0" marL="0">
              <a:buNone/>
            </a:pPr>
            <a:r>
              <a:rPr lang="en-US" sz="800" b="1" spc="110" kern="0" dirty="0">
                <a:solidFill>
                  <a:srgbClr val="F1BA64"/>
                </a:solidFill>
                <a:latin typeface="Aptos" pitchFamily="34" charset="0"/>
                <a:ea typeface="Aptos" pitchFamily="34" charset="-122"/>
                <a:cs typeface="Aptos" pitchFamily="34" charset="-120"/>
              </a:rPr>
              <a:t>BUSINESS VALUE</a:t>
            </a:r>
            <a:endParaRPr lang="en-US" sz="800" dirty="0"/>
          </a:p>
        </p:txBody>
      </p:sp>
      <p:sp>
        <p:nvSpPr>
          <p:cNvPr id="16" name="Text 14"/>
          <p:cNvSpPr/>
          <p:nvPr/>
        </p:nvSpPr>
        <p:spPr>
          <a:xfrm>
            <a:off x="1133856" y="4133088"/>
            <a:ext cx="4498848" cy="548640"/>
          </a:xfrm>
          <a:prstGeom prst="rect">
            <a:avLst/>
          </a:prstGeom>
          <a:noFill/>
          <a:ln/>
        </p:spPr>
        <p:txBody>
          <a:bodyPr wrap="square" lIns="0" tIns="0" rIns="0" bIns="0" rtlCol="0" anchor="t">
            <a:normAutofit/>
          </a:bodyPr>
          <a:lstStyle/>
          <a:p>
            <a:pPr indent="0" marL="0">
              <a:buNone/>
            </a:pPr>
            <a:r>
              <a:rPr lang="en-US" sz="1300" dirty="0">
                <a:solidFill>
                  <a:srgbClr val="F4F7F9"/>
                </a:solidFill>
                <a:latin typeface="Aptos" pitchFamily="34" charset="0"/>
                <a:ea typeface="Aptos" pitchFamily="34" charset="-122"/>
                <a:cs typeface="Aptos" pitchFamily="34" charset="-120"/>
              </a:rPr>
              <a:t>Less context switching; a shared, explainable release review for a team.</a:t>
            </a:r>
            <a:endParaRPr lang="en-US" sz="1300" dirty="0"/>
          </a:p>
        </p:txBody>
      </p:sp>
      <p:sp>
        <p:nvSpPr>
          <p:cNvPr id="17" name="Shape 15"/>
          <p:cNvSpPr/>
          <p:nvPr/>
        </p:nvSpPr>
        <p:spPr>
          <a:xfrm>
            <a:off x="6217920" y="3575304"/>
            <a:ext cx="5285232" cy="1280160"/>
          </a:xfrm>
          <a:prstGeom prst="roundRect">
            <a:avLst>
              <a:gd name="adj" fmla="val 8571"/>
            </a:avLst>
          </a:prstGeom>
          <a:solidFill>
            <a:srgbClr val="142735"/>
          </a:solidFill>
          <a:ln w="12700">
            <a:solidFill>
              <a:srgbClr val="142735">
                <a:alpha val="0"/>
              </a:srgbClr>
            </a:solidFill>
            <a:prstDash val="solid"/>
          </a:ln>
        </p:spPr>
      </p:sp>
      <p:sp>
        <p:nvSpPr>
          <p:cNvPr id="18" name="Shape 16"/>
          <p:cNvSpPr/>
          <p:nvPr/>
        </p:nvSpPr>
        <p:spPr>
          <a:xfrm>
            <a:off x="6419088" y="3803904"/>
            <a:ext cx="54864" cy="804672"/>
          </a:xfrm>
          <a:prstGeom prst="roundRect">
            <a:avLst>
              <a:gd name="adj" fmla="val 200000"/>
            </a:avLst>
          </a:prstGeom>
          <a:solidFill>
            <a:srgbClr val="FC777B"/>
          </a:solidFill>
          <a:ln w="12700">
            <a:solidFill>
              <a:srgbClr val="FC777B">
                <a:alpha val="0"/>
              </a:srgbClr>
            </a:solidFill>
            <a:prstDash val="solid"/>
          </a:ln>
        </p:spPr>
      </p:sp>
      <p:sp>
        <p:nvSpPr>
          <p:cNvPr id="19" name="Text 17"/>
          <p:cNvSpPr/>
          <p:nvPr/>
        </p:nvSpPr>
        <p:spPr>
          <a:xfrm>
            <a:off x="6656832" y="3794760"/>
            <a:ext cx="4517136" cy="182880"/>
          </a:xfrm>
          <a:prstGeom prst="rect">
            <a:avLst/>
          </a:prstGeom>
          <a:noFill/>
          <a:ln/>
        </p:spPr>
        <p:txBody>
          <a:bodyPr wrap="square" lIns="0" tIns="0" rIns="0" bIns="0" rtlCol="0" anchor="ctr">
            <a:normAutofit/>
          </a:bodyPr>
          <a:lstStyle/>
          <a:p>
            <a:pPr indent="0" marL="0">
              <a:buNone/>
            </a:pPr>
            <a:r>
              <a:rPr lang="en-US" sz="800" b="1" spc="110" kern="0" dirty="0">
                <a:solidFill>
                  <a:srgbClr val="FC777B"/>
                </a:solidFill>
                <a:latin typeface="Aptos" pitchFamily="34" charset="0"/>
                <a:ea typeface="Aptos" pitchFamily="34" charset="-122"/>
                <a:cs typeface="Aptos" pitchFamily="34" charset="-120"/>
              </a:rPr>
              <a:t>ORIGINALITY</a:t>
            </a:r>
            <a:endParaRPr lang="en-US" sz="800" dirty="0"/>
          </a:p>
        </p:txBody>
      </p:sp>
      <p:sp>
        <p:nvSpPr>
          <p:cNvPr id="20" name="Text 18"/>
          <p:cNvSpPr/>
          <p:nvPr/>
        </p:nvSpPr>
        <p:spPr>
          <a:xfrm>
            <a:off x="6656832" y="4133088"/>
            <a:ext cx="4498848" cy="548640"/>
          </a:xfrm>
          <a:prstGeom prst="rect">
            <a:avLst/>
          </a:prstGeom>
          <a:noFill/>
          <a:ln/>
        </p:spPr>
        <p:txBody>
          <a:bodyPr wrap="square" lIns="0" tIns="0" rIns="0" bIns="0" rtlCol="0" anchor="t">
            <a:normAutofit/>
          </a:bodyPr>
          <a:lstStyle/>
          <a:p>
            <a:pPr indent="0" marL="0">
              <a:buNone/>
            </a:pPr>
            <a:r>
              <a:rPr lang="en-US" sz="1300" dirty="0">
                <a:solidFill>
                  <a:srgbClr val="F4F7F9"/>
                </a:solidFill>
                <a:latin typeface="Aptos" pitchFamily="34" charset="0"/>
                <a:ea typeface="Aptos" pitchFamily="34" charset="-122"/>
                <a:cs typeface="Aptos" pitchFamily="34" charset="-120"/>
              </a:rPr>
              <a:t>A portfolio release passport tying app, country, storefront, and evidence together.</a:t>
            </a:r>
            <a:endParaRPr lang="en-US" sz="1300" dirty="0"/>
          </a:p>
        </p:txBody>
      </p:sp>
      <p:sp>
        <p:nvSpPr>
          <p:cNvPr id="21" name="Shape 19"/>
          <p:cNvSpPr/>
          <p:nvPr/>
        </p:nvSpPr>
        <p:spPr>
          <a:xfrm>
            <a:off x="694944" y="5239512"/>
            <a:ext cx="10808208" cy="603504"/>
          </a:xfrm>
          <a:prstGeom prst="roundRect">
            <a:avLst>
              <a:gd name="adj" fmla="val 18182"/>
            </a:avLst>
          </a:prstGeom>
          <a:solidFill>
            <a:srgbClr val="1A3444"/>
          </a:solidFill>
          <a:ln w="12700">
            <a:solidFill>
              <a:srgbClr val="1A3444">
                <a:alpha val="0"/>
              </a:srgbClr>
            </a:solidFill>
            <a:prstDash val="solid"/>
          </a:ln>
        </p:spPr>
      </p:sp>
      <p:sp>
        <p:nvSpPr>
          <p:cNvPr id="22" name="Text 20"/>
          <p:cNvSpPr/>
          <p:nvPr/>
        </p:nvSpPr>
        <p:spPr>
          <a:xfrm>
            <a:off x="932688" y="5449824"/>
            <a:ext cx="1481328" cy="164592"/>
          </a:xfrm>
          <a:prstGeom prst="rect">
            <a:avLst/>
          </a:prstGeom>
          <a:noFill/>
          <a:ln/>
        </p:spPr>
        <p:txBody>
          <a:bodyPr wrap="square" lIns="0" tIns="0" rIns="0" bIns="0" rtlCol="0" anchor="ctr">
            <a:normAutofit/>
          </a:bodyPr>
          <a:lstStyle/>
          <a:p>
            <a:pPr indent="0" marL="0">
              <a:buNone/>
            </a:pPr>
            <a:r>
              <a:rPr lang="en-US" sz="800" b="1" spc="100" kern="0" dirty="0">
                <a:solidFill>
                  <a:srgbClr val="F1BA64"/>
                </a:solidFill>
                <a:latin typeface="Aptos" pitchFamily="34" charset="0"/>
                <a:ea typeface="Aptos" pitchFamily="34" charset="-122"/>
                <a:cs typeface="Aptos" pitchFamily="34" charset="-120"/>
              </a:rPr>
              <a:t>BEFORE SUBMISSION</a:t>
            </a:r>
            <a:endParaRPr lang="en-US" sz="800" dirty="0"/>
          </a:p>
        </p:txBody>
      </p:sp>
      <p:sp>
        <p:nvSpPr>
          <p:cNvPr id="23" name="Text 21"/>
          <p:cNvSpPr/>
          <p:nvPr/>
        </p:nvSpPr>
        <p:spPr>
          <a:xfrm>
            <a:off x="2642616" y="5404104"/>
            <a:ext cx="8183880" cy="246888"/>
          </a:xfrm>
          <a:prstGeom prst="rect">
            <a:avLst/>
          </a:prstGeom>
          <a:noFill/>
          <a:ln/>
        </p:spPr>
        <p:txBody>
          <a:bodyPr wrap="square" lIns="0" tIns="0" rIns="0" bIns="0" rtlCol="0" anchor="ctr">
            <a:normAutofit/>
          </a:bodyPr>
          <a:lstStyle/>
          <a:p>
            <a:pPr indent="0" marL="0">
              <a:buNone/>
            </a:pPr>
            <a:r>
              <a:rPr lang="en-US" sz="1150" b="1" dirty="0">
                <a:solidFill>
                  <a:srgbClr val="F4F7F9"/>
                </a:solidFill>
                <a:latin typeface="Aptos" pitchFamily="34" charset="0"/>
                <a:ea typeface="Aptos" pitchFamily="34" charset="-122"/>
                <a:cs typeface="Aptos" pitchFamily="34" charset="-120"/>
              </a:rPr>
              <a:t>Publish MIT-scoped source  |  deploy demo  |  capture Bob sessions  |  record narrated video</a:t>
            </a:r>
            <a:endParaRPr lang="en-US" sz="1150" dirty="0"/>
          </a:p>
        </p:txBody>
      </p:sp>
      <p:sp>
        <p:nvSpPr>
          <p:cNvPr id="25" name="Slide Number Placeholder 0"/>
          <p:cNvSpPr>
            <a:spLocks noGrp="1"/>
          </p:cNvSpPr>
          <p:nvPr>
            <p:ph type="sldNum" sz="quarter" idx="4294967295"/>
          </p:nvPr>
        </p:nvSpPr>
        <p:spPr>
          <a:xfrm>
            <a:off x="11356848" y="6510528"/>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8CA2B1"/>
                </a:solidFill>
                <a:latin typeface="Aptos"/>
                <a:ea typeface="Aptos"/>
                <a:cs typeface="Aptos"/>
              </a:defRPr>
            </a:lvl1pPr>
          </a:lstStyle>
          <a:p>
            <a:pPr algn="l"/>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StoreReady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StoreReady release workspace</dc:title>
  <dc:subject>IBM Bob 2.0 Hackathon submission</dc:subject>
  <dc:creator>StoreReady</dc:creator>
  <cp:lastModifiedBy>StoreReady</cp:lastModifiedBy>
  <cp:revision>1</cp:revision>
  <dcterms:created xsi:type="dcterms:W3CDTF">2026-09-25T19:21:22Z</dcterms:created>
  <dcterms:modified xsi:type="dcterms:W3CDTF">2026-09-25T19:21:22Z</dcterms:modified>
</cp:coreProperties>
</file>